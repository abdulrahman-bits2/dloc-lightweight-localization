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2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3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rts/chart4.xml" ContentType="application/vnd.openxmlformats-officedocument.drawingml.chart+xml"/>
  <Override PartName="/ppt/notesSlides/notesSlide33.xml" ContentType="application/vnd.openxmlformats-officedocument.presentationml.notesSlide+xml"/>
  <Override PartName="/ppt/charts/chart5.xml" ContentType="application/vnd.openxmlformats-officedocument.drawingml.chart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8" r:id="rId23"/>
    <p:sldId id="292" r:id="rId24"/>
    <p:sldId id="277" r:id="rId25"/>
    <p:sldId id="278" r:id="rId26"/>
    <p:sldId id="291" r:id="rId27"/>
    <p:sldId id="279" r:id="rId28"/>
    <p:sldId id="280" r:id="rId29"/>
    <p:sldId id="290" r:id="rId30"/>
    <p:sldId id="293" r:id="rId31"/>
    <p:sldId id="281" r:id="rId32"/>
    <p:sldId id="282" r:id="rId33"/>
    <p:sldId id="283" r:id="rId34"/>
    <p:sldId id="289" r:id="rId35"/>
    <p:sldId id="284" r:id="rId36"/>
    <p:sldId id="285" r:id="rId37"/>
    <p:sldId id="286" r:id="rId3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64653"/>
                </a:solidFill>
                <a:latin typeface="Calibri"/>
              </a:defRPr>
            </a:pPr>
            <a:r>
              <a:rPr lang="en-US" sz="1100" b="0" i="0" u="none" strike="noStrike">
                <a:solidFill>
                  <a:srgbClr val="264653"/>
                </a:solidFill>
                <a:latin typeface="Calibri"/>
              </a:rPr>
              <a:t>Accuracy vs. size — lower-left is better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TinyCNN (47K)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13"/>
            <c:spPr>
              <a:solidFill>
                <a:srgbClr val="8E9AAF"/>
              </a:solidFill>
              <a:ln w="9525" cap="flat">
                <a:solidFill>
                  <a:srgbClr val="8E9AAF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47000</c:v>
                </c:pt>
                <c:pt idx="1">
                  <c:v>650000</c:v>
                </c:pt>
                <c:pt idx="2">
                  <c:v>2270000</c:v>
                </c:pt>
                <c:pt idx="3">
                  <c:v>2410000</c:v>
                </c:pt>
                <c:pt idx="4">
                  <c:v>16500000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3.9220000000000002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CFB-4114-A45B-E38335276A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Mamba (0.65M)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13"/>
            <c:spPr>
              <a:solidFill>
                <a:srgbClr val="9B5DE5"/>
              </a:solidFill>
              <a:ln w="9525" cap="flat">
                <a:solidFill>
                  <a:srgbClr val="9B5DE5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47000</c:v>
                </c:pt>
                <c:pt idx="1">
                  <c:v>650000</c:v>
                </c:pt>
                <c:pt idx="2">
                  <c:v>2270000</c:v>
                </c:pt>
                <c:pt idx="3">
                  <c:v>2410000</c:v>
                </c:pt>
                <c:pt idx="4">
                  <c:v>16500000</c:v>
                </c:pt>
              </c:numCache>
            </c:numRef>
          </c:xVal>
          <c:yVal>
            <c:numRef>
              <c:f>Sheet1!$C$2:$C$6</c:f>
              <c:numCache>
                <c:formatCode>General</c:formatCode>
                <c:ptCount val="5"/>
                <c:pt idx="1">
                  <c:v>10.56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CFB-4114-A45B-E38335276A6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MobileNetV2 (2.27M)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13"/>
            <c:spPr>
              <a:solidFill>
                <a:srgbClr val="E76F51"/>
              </a:solidFill>
              <a:ln w="9525" cap="flat">
                <a:solidFill>
                  <a:srgbClr val="E76F51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47000</c:v>
                </c:pt>
                <c:pt idx="1">
                  <c:v>650000</c:v>
                </c:pt>
                <c:pt idx="2">
                  <c:v>2270000</c:v>
                </c:pt>
                <c:pt idx="3">
                  <c:v>2410000</c:v>
                </c:pt>
                <c:pt idx="4">
                  <c:v>16500000</c:v>
                </c:pt>
              </c:numCache>
            </c:numRef>
          </c:xVal>
          <c:yVal>
            <c:numRef>
              <c:f>Sheet1!$D$2:$D$6</c:f>
              <c:numCache>
                <c:formatCode>General</c:formatCode>
                <c:ptCount val="5"/>
                <c:pt idx="2">
                  <c:v>0.70699999999999996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CFB-4114-A45B-E38335276A6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MobileNetV2-UNet (2.41M)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13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47000</c:v>
                </c:pt>
                <c:pt idx="1">
                  <c:v>650000</c:v>
                </c:pt>
                <c:pt idx="2">
                  <c:v>2270000</c:v>
                </c:pt>
                <c:pt idx="3">
                  <c:v>2410000</c:v>
                </c:pt>
                <c:pt idx="4">
                  <c:v>16500000</c:v>
                </c:pt>
              </c:numCache>
            </c:numRef>
          </c:xVal>
          <c:yVal>
            <c:numRef>
              <c:f>Sheet1!$E$2:$E$6</c:f>
              <c:numCache>
                <c:formatCode>General</c:formatCode>
                <c:ptCount val="5"/>
                <c:pt idx="3">
                  <c:v>0.64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4CFB-4114-A45B-E38335276A6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DLoc teacher (16.5M)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13"/>
            <c:spPr>
              <a:solidFill>
                <a:srgbClr val="264653"/>
              </a:solidFill>
              <a:ln w="9525" cap="flat">
                <a:solidFill>
                  <a:srgbClr val="264653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47000</c:v>
                </c:pt>
                <c:pt idx="1">
                  <c:v>650000</c:v>
                </c:pt>
                <c:pt idx="2">
                  <c:v>2270000</c:v>
                </c:pt>
                <c:pt idx="3">
                  <c:v>2410000</c:v>
                </c:pt>
                <c:pt idx="4">
                  <c:v>16500000</c:v>
                </c:pt>
              </c:numCache>
            </c:numRef>
          </c:xVal>
          <c:yVal>
            <c:numRef>
              <c:f>Sheet1!$F$2:$F$6</c:f>
              <c:numCache>
                <c:formatCode>General</c:formatCode>
                <c:ptCount val="5"/>
                <c:pt idx="4">
                  <c:v>0.70699999999999996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4CFB-4114-A45B-E38335276A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logBase val="10"/>
          <c:orientation val="minMax"/>
          <c:max val="100000000"/>
          <c:min val="10000"/>
        </c:scaling>
        <c:delete val="0"/>
        <c:axPos val="b"/>
        <c:majorGridlines>
          <c:spPr>
            <a:ln w="6350" cap="flat">
              <a:solidFill>
                <a:srgbClr val="E6EB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F6B72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5F6B72"/>
                    </a:solidFill>
                    <a:latin typeface="Arial"/>
                  </a:rPr>
                  <a:t>Parameters (log)</a:t>
                </a:r>
              </a:p>
            </c:rich>
          </c:tx>
          <c:overlay val="0"/>
        </c:title>
        <c:numFmt formatCode="[&gt;=1000000]0,,&quot;M&quot;;[&gt;=1000]0,&quot;K&quot;;0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logBase val="10"/>
          <c:orientation val="minMax"/>
          <c:max val="20"/>
          <c:min val="0.1"/>
        </c:scaling>
        <c:delete val="0"/>
        <c:axPos val="l"/>
        <c:majorGridlines>
          <c:spPr>
            <a:ln w="6350" cap="flat">
              <a:solidFill>
                <a:srgbClr val="E6EB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F6B72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5F6B72"/>
                    </a:solidFill>
                    <a:latin typeface="Arial"/>
                  </a:rPr>
                  <a:t>Median error (m, log)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64653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264653"/>
                </a:solidFill>
                <a:latin typeface="Calibri"/>
              </a:rPr>
              <a:t>MobileNetV2-UNet error (m) by scheduler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Step decay · standalone</c:v>
                </c:pt>
              </c:strCache>
            </c:strRef>
          </c:tx>
          <c:spPr>
            <a:solidFill>
              <a:srgbClr val="8E9AAF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D2B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Median</c:v>
                </c:pt>
                <c:pt idx="1">
                  <c:v>P90</c:v>
                </c:pt>
                <c:pt idx="2">
                  <c:v>P99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0.64</c:v>
                </c:pt>
                <c:pt idx="1">
                  <c:v>1.552</c:v>
                </c:pt>
                <c:pt idx="2">
                  <c:v>2.9180000000000001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14-4CF2-8FB6-0C3D5E8A058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Cosine annealing · standalone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D2B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Median</c:v>
                </c:pt>
                <c:pt idx="1">
                  <c:v>P90</c:v>
                </c:pt>
                <c:pt idx="2">
                  <c:v>P99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0.64</c:v>
                </c:pt>
                <c:pt idx="1">
                  <c:v>1.5229999999999999</c:v>
                </c:pt>
                <c:pt idx="2">
                  <c:v>2.75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114-4CF2-8FB6-0C3D5E8A05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EB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64653"/>
                </a:solidFill>
                <a:latin typeface="Calibri"/>
              </a:defRPr>
            </a:pPr>
            <a:r>
              <a:rPr lang="en-US" sz="1100" b="0" i="0" u="none" strike="noStrike">
                <a:solidFill>
                  <a:srgbClr val="264653"/>
                </a:solidFill>
                <a:latin typeface="Calibri"/>
              </a:rPr>
              <a:t>Median error (m) under Gaussian noise </a:t>
            </a:r>
            <a:r>
              <a:rPr lang="el-GR" sz="1100" b="0" i="0" u="none" strike="noStrike">
                <a:solidFill>
                  <a:srgbClr val="264653"/>
                </a:solidFill>
                <a:latin typeface="Calibri"/>
              </a:rPr>
              <a:t>σ = 0.1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error (m), noise σ = 0.1</c:v>
                </c:pt>
              </c:strCache>
            </c:strRef>
          </c:tx>
          <c:spPr>
            <a:solidFill>
              <a:srgbClr val="C0503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50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BB1-4A94-95A4-5E062EAE90A0}"/>
              </c:ext>
            </c:extLst>
          </c:dPt>
          <c:dPt>
            <c:idx val="1"/>
            <c:invertIfNegative val="0"/>
            <c:bubble3D val="0"/>
            <c:spPr>
              <a:solidFill>
                <a:srgbClr val="E76F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BB1-4A94-95A4-5E062EAE90A0}"/>
              </c:ext>
            </c:extLst>
          </c:dPt>
          <c:dPt>
            <c:idx val="2"/>
            <c:invertIfNegative val="0"/>
            <c:bubble3D val="0"/>
            <c:spPr>
              <a:solidFill>
                <a:srgbClr val="8E9A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BB1-4A94-95A4-5E062EAE90A0}"/>
              </c:ext>
            </c:extLst>
          </c:dPt>
          <c:dPt>
            <c:idx val="3"/>
            <c:invertIfNegative val="0"/>
            <c:bubble3D val="0"/>
            <c:spPr>
              <a:solidFill>
                <a:srgbClr val="B5BE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BB1-4A94-95A4-5E062EAE90A0}"/>
              </c:ext>
            </c:extLst>
          </c:dPt>
          <c:dPt>
            <c:idx val="4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BB1-4A94-95A4-5E062EAE90A0}"/>
              </c:ext>
            </c:extLst>
          </c:dPt>
          <c:dPt>
            <c:idx val="5"/>
            <c:invertIfNegative val="0"/>
            <c:bubble3D val="0"/>
            <c:spPr>
              <a:solidFill>
                <a:srgbClr val="7CC6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BB1-4A94-95A4-5E062EAE90A0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D2B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MNv2 st.</c:v>
                </c:pt>
                <c:pt idx="1">
                  <c:v>MNv2 dist.</c:v>
                </c:pt>
                <c:pt idx="2">
                  <c:v>Tiny st.</c:v>
                </c:pt>
                <c:pt idx="3">
                  <c:v>Tiny dist.</c:v>
                </c:pt>
                <c:pt idx="4">
                  <c:v>U-Net st.</c:v>
                </c:pt>
                <c:pt idx="5">
                  <c:v>U-Net dist.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16.367999999999999</c:v>
                </c:pt>
                <c:pt idx="1">
                  <c:v>4.7690000000000001</c:v>
                </c:pt>
                <c:pt idx="2">
                  <c:v>9.4570000000000007</c:v>
                </c:pt>
                <c:pt idx="3">
                  <c:v>9.4390000000000001</c:v>
                </c:pt>
                <c:pt idx="4">
                  <c:v>3</c:v>
                </c:pt>
                <c:pt idx="5">
                  <c:v>3.4689999999999999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BB1-4A94-95A4-5E062EAE90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6350" cap="flat">
              <a:solidFill>
                <a:srgbClr val="E6EB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64653"/>
                </a:solidFill>
                <a:latin typeface="Calibri"/>
              </a:defRPr>
            </a:pPr>
            <a:r>
              <a:rPr lang="en-US" sz="1100" b="0" i="0" u="none" strike="noStrike">
                <a:solidFill>
                  <a:srgbClr val="264653"/>
                </a:solidFill>
                <a:latin typeface="Calibri"/>
              </a:rPr>
              <a:t>Median error (m): DLoc 120-epoch seeds, teacher, U-Net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error (m)</c:v>
                </c:pt>
              </c:strCache>
            </c:strRef>
          </c:tx>
          <c:spPr>
            <a:solidFill>
              <a:srgbClr val="8E9AA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FD7-4555-ADB8-E470CB06ED3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FD7-4555-ADB8-E470CB06ED3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FD7-4555-ADB8-E470CB06ED36}"/>
              </c:ext>
            </c:extLst>
          </c:dPt>
          <c:dPt>
            <c:idx val="3"/>
            <c:invertIfNegative val="0"/>
            <c:bubble3D val="0"/>
            <c:spPr>
              <a:solidFill>
                <a:srgbClr val="26465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FD7-4555-ADB8-E470CB06ED36}"/>
              </c:ext>
            </c:extLst>
          </c:dPt>
          <c:dPt>
            <c:idx val="4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FD7-4555-ADB8-E470CB06ED36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D2B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Seed 42</c:v>
                </c:pt>
                <c:pt idx="1">
                  <c:v>Seed 123</c:v>
                </c:pt>
                <c:pt idx="2">
                  <c:v>Seed 777</c:v>
                </c:pt>
                <c:pt idx="3">
                  <c:v>Teacher (50 ep.)</c:v>
                </c:pt>
                <c:pt idx="4">
                  <c:v>U-Net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0.82499999999999996</c:v>
                </c:pt>
                <c:pt idx="1">
                  <c:v>0.90600000000000003</c:v>
                </c:pt>
                <c:pt idx="2">
                  <c:v>0.89400000000000002</c:v>
                </c:pt>
                <c:pt idx="3">
                  <c:v>0.70699999999999996</c:v>
                </c:pt>
                <c:pt idx="4">
                  <c:v>0.64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FD7-4555-ADB8-E470CB06ED3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F6B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6EB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64653"/>
                </a:solidFill>
                <a:latin typeface="Calibri"/>
              </a:defRPr>
            </a:pPr>
            <a:r>
              <a:rPr lang="en-US" sz="1100" b="0" i="0" u="none" strike="noStrike">
                <a:solidFill>
                  <a:srgbClr val="264653"/>
                </a:solidFill>
                <a:latin typeface="Calibri"/>
              </a:rPr>
              <a:t>CPU latency per inference (ms), network only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CPU latency (ms)</c:v>
                </c:pt>
              </c:strCache>
            </c:strRef>
          </c:tx>
          <c:spPr>
            <a:solidFill>
              <a:srgbClr val="26465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F08-4C1A-A5E8-9008E89972DE}"/>
              </c:ext>
            </c:extLst>
          </c:dPt>
          <c:dPt>
            <c:idx val="1"/>
            <c:invertIfNegative val="0"/>
            <c:bubble3D val="0"/>
            <c:spPr>
              <a:solidFill>
                <a:srgbClr val="E76F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F08-4C1A-A5E8-9008E89972DE}"/>
              </c:ext>
            </c:extLst>
          </c:dPt>
          <c:dPt>
            <c:idx val="2"/>
            <c:invertIfNegative val="0"/>
            <c:bubble3D val="0"/>
            <c:spPr>
              <a:solidFill>
                <a:srgbClr val="8E9A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F08-4C1A-A5E8-9008E89972DE}"/>
              </c:ext>
            </c:extLst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F08-4C1A-A5E8-9008E89972DE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D2B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DLoc baseline</c:v>
                </c:pt>
                <c:pt idx="1">
                  <c:v>MobileNetV2</c:v>
                </c:pt>
                <c:pt idx="2">
                  <c:v>TinyCNN</c:v>
                </c:pt>
                <c:pt idx="3">
                  <c:v>MNv2-UNet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270.89999999999998</c:v>
                </c:pt>
                <c:pt idx="1">
                  <c:v>17.899999999999999</c:v>
                </c:pt>
                <c:pt idx="2">
                  <c:v>9.1</c:v>
                </c:pt>
                <c:pt idx="3">
                  <c:v>27.2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F08-4C1A-A5E8-9008E89972D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D2B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20"/>
          <c:min val="0"/>
        </c:scaling>
        <c:delete val="0"/>
        <c:axPos val="t"/>
        <c:majorGridlines>
          <c:spPr>
            <a:ln w="6350" cap="flat">
              <a:solidFill>
                <a:srgbClr val="E6EB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3978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I'm presenting our paper on edge-efficient WiFi indoor localization: compressing the DLoc network into a model small enough for edge devices, without losing accuracy. I'll cover the problem, our method and data, then the results and what they mean. (~20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Hospitals, warehouses and robots need indoor location. GPS fails indoors, and WiFi is already installed. The catch: the most accurate WiFi localizers are large and heavy — too heavy for the small everyday devices where we actually want localization. Our approach is to build much smaller models and train them to imitate the large, accurate one — keeping the accuracy while shedding the weight. (~40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handoff point. Part 1: the problem and the DLoc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do you get location from a WiFi signal? The CSI encodes angle through phase across antennas, and travel time through phase across frequencies. The hard part: indoor multipath and non-line-of-sight, plus an unknown clock offset that moves each AP's estimate by up to 15 meters. So the four APs disagree, and a learned model reconciles them where classical geometry fails. (~50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DLoc's key idea is to treat this as image-to-image translation. Each AP's signal becomes a heatmap over the floor; stack four of them into an image; the network outputs one clean heatmap; the peak is the predicted location at 0.1-meter resolution. This framing is central — four of our five models accept it, and the one that doesn't, fails. (~45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Architecturally DLoc is an encoder with two decoders. A shared ResNet encoder feeds a location decoder — that's the heatmap we use — and a consistency decoder, which is DLoc's clever bit: it forces the four AP maps to agree, and in doing so it learns to remove the clock offset, resolve multipath and sharpen low-bandwidth inputs. One AP can't fix itself; four mutually consistent APs can. Remember the consistency decoder — it comes back with the reflector session. (~50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DLoc is accurate — sub-meter — but it's 16.5 million parameters and a quarter-second per prediction on a CPU. The 0.71 m here is our own reproduction of DLoc, the checkpoint we use as the teacher; the original paper reports 0.64 m. Either way, that cost is a non-starter for edge devices. So our central question: is that cost inherent to the problem, or is DLoc simply over-parameterized? (~40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two levers are architecture and knowledge distillation. The frozen DLoc teacher sees the same input as the student; we run it once over the whole dataset and cache its soft heatmaps, so it never runs while students train. Each student is trained two ways: standalone, on the ground truth only, and distilled, where 30% of the loss pulls it toward the teacher's heatmap. The teacher's heatmap is already soft — probability spread around the location — so distillation acts as spatial label smoothing. As you'll see, that buys robustness in specific cases, not clean accuracy. (~50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handoff. Part 2: the four student architectures we built, from the simplest to our best.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first student is Mamba. A convolutional stem downsamples the 4-channel input to 128 channels on a 41 by 91 grid. We flatten that grid into a sequence of 3,731 tokens and pass it through four blocks of LayerNorm, a Mamba selective-scan layer and a residual, then reshape and decode to the full heatmap. Inside each Mamba layer the state h is a memory that keeps updating: A-bar decides what to forget or remember, B-bar how much the new token matters, and C reads the output. The catch: we flatten with a single raster scan, so floor neighbours end up far apart in the sequence. Its training and test error both rise from the first epoch — it never fits the training set — so this is a mismatch, not overfitting. We did not try 2-D multi-direction scans like VMamba; that's the obvious next test. (~55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student, TinyCNN — the smallest network we could build that still maps the input to a heatmap. Three encoder stages use depthwise-separable convolutions, DWS, with two max-pools, taking the input down to a quarter resolution with 64 channels. Two transposed convolutions bring it back to full resolution, and a 1×1 convolution gives the heatmap. Block heights here show the spatial resolution. It's a deliberate floor probe: how small can the network get before accuracy falls apart? (~40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Third student, MobileNetV2. The encoder is a MobileNetV2 backbone with its first layer adapted to the 4-channel input, going from 4 to 320 channels. Its inverted residual blocks go narrow, wide, narrow: expand with a 1×1, filter with a cheap depthwise 3×3, then project back down. Three decoder blocks — each upsample, convolution, batch-norm, ReLU — go 320 to 128 to 64 to 32, a 1×1 convolution with sigmoid gives one channel, and a bilinear resize returns the full 161 by 361 heatmap. The catch: no skip connections, so all the spatial detail must pass through the narrow bottleneck. (~45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fourth student is the hero: the same MobileNetV2 encoder plus U-Net skip connections. The input stem halves the resolution and goes 4 to 32 channels; four encoder stages produce 24, 32, 96 and 320 channels. On the way up, each decoder stage upsamples and concatenates the matching encoder features — that's why decoder 1 takes 416 channels, 320 plus 96; decoder 2 takes 160, 128 plus 32; decoder 3 takes 88, 64 plus 24. A 1×1 head with sigmoid outputs the 161 by 361 heatmap. In localization the spatial detail is the answer, and the skips carry it straight past the bottleneck. (~50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handoff. Part 3: the data, how we ran the experiments, and the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is WILD, released with DLoc. It was collected by a robot called MapFind — a TurtleBot with LIDAR, a camera, and a WiFi card — that drives the space slowly while SLAM, simultaneous localization and mapping, gives it ground-truth position to about 5.7 centimeters. So every example is real CSI paired with an accurate label. We use the harder four-AP Jacobs Hall space, where one AP is behind a wall and plasma screens create heavy multipath. (~50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five sessions. Sessions 1 and 2 are the same room an hour apart. Session 1 plus the training part of session 2 give 17,574 training samples; 4,260 samples of session 2 are held out for testing. Sessions 3 to 5 were collected three weeks later: furniture rearranged, a different furniture configuration, and in session 5 an aluminium reflector that creates specular multipath — the hardest case. (~40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six experiments in the results, in order. In-distribution accuracy and robustness both use the session-1-plus-2 split; robustness just corrupts the input at test time, no retraining. Cross-session uses leave-one-session-out — DLoc's own published protocol, so the comparison is fair — standalone only, because distilling would need a new teacher per fold. Zero-shot trains on the July sessions only and tests on August — an internal ablation. Multi-seed retrains DLoc three times to measure seed noise. Efficiency is measured at batch size 1. (~50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five together. Both axes are logarithmic, which spreads the five models out instead of collapsing into one blob. Lower-left is better. MobileNetV2 and the U-Net nearly overlap (same size class, near-identical accuracy), far from DLoc. Going from DLoc to MobileNetV2 removes 86% of the parameters without moving the median; TinyCNN strips too much; the U-Net adds the right structure and is the best of all; Mamba changes the framing and breaks despite being mid-sized. (~40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 one, on the held-out session. Two DLoc rows: the published result, 0.64 m, and our own 50-epoch reproduction, 0.707 m, which is the checkpoint we use as the teacher. MobileNetV2 lands on the same median as our teacher at 7 times fewer parameters. TinyCNN at 47K is five times worse. The U-Net reaches 0.640 — level with the published DLoc and three grid steps below our teacher — and distillation trims its P99 from 2.750 to 2.587. Mamba fails at 10.56 m. One caveat on the identical medians — next slide. (~45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honest caveat about every median in this talk. The prediction is the arg-max pixel, and pixels are 0.1 m apart, so every error is 0.1 times the square root of an integer. These are the only values a median can take near our results: 0.640, 0.671, 0.700, 0.707. So 'MobileNetV2 equals DLoc', 'both schedulers give the same median' and 'standalone equals distilled' mean the same grid value — not identical models. The U-Net's gain over our teacher is three grid steps, 0.067 m. That's why we always show P90 and P99 too, and why mean error — which is continuous — is useful: in the robustness runs the U-Net's mean under normal conditions is 0.851 m versus 0.900 m for MobileNetV2. We don't have a mean for the DLoc teacher, and sub-pixel peak refinement is on our list. (~50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Actual predicted heatmaps from the U-Net on the held-out session: a near-perfect sample, a typical one at the median, and a failure. White circle is the truth, red cross the prediction. Most heatmaps have one tight peak. The large errors happen when a second bright region wins the arg-max — you can see it in the right-hand tile. (~30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scheduler study — this one's quick. Cosine and step both reach the exact same 0.640 median — the same 0.1 m grid value, which is not proof they're identical; cosine gives a slightly tighter tail. The scheduler is a second-order knob; architecture is what moves the needle. (~20 s — can skip under time pressure)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Backup: six samples per model across the error percentiles. U-Net and MobileNetV2 both produce single, tight peaks in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 two, robustness — we corrupt the input at test time, no retraining, to mimic deployment. This is the Gaussian-noise summary. Plain MobileNetV2 collapses to 16.4 m; distillation holds it at 4.8 — 3.4 times better. The U-Net's skips hold it at 3.0 on their own — 5.5 times better. TinyCNN is around 9.4 m either way: distillation doesn't help a model this small. The next slide gives the full U-Net table; MobileNetV2's is in the backup. (~45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U-Net in full. Three cells to look at. Its skips already give it the best noise robustness standalone — 3.0 m at sigma 0.1 — and distillation does not add to that; it actually gets a little worse, 3.47. But under random 2-AP dropout distillation is what helps: median 3.32 down to 2.73, and P99 from 22 down to 13.4 metres. Skips for noise, distillation for dropout. (~30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MobileNetV2 in full. Under noise the standalone model is effectively guessing within the floorplan — 16 metres — while the distilled one stays under 5.4. Distillation regularizes the features toward a more noise-robust representation, the spatial analogue of soft targets in classification. On dropout, attenuation and blur the two modes are close; distillation notably cuts the blur P99 from 12.0 to 5.8 m. (~30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 three, the headline generalization result. Leave-one-session-out, standalone-only, three seeds — exactly DLoc's published protocol, so the comparison is fair. We average 0.93 against DLoc's 0.86, match on different-furniture, essentially tie on mean P90 — 2.374 versus 2.33 — and beat DLoc's P90 on the hardest reflector fold. Per fold we're within 0.14 m of DLoc, 0.07 m on average — at 6.8 times fewer parameters. (~45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reflector fold the error curve shifts right, and the heatmaps suggest why: the aluminium panel adds specular 'phantom' peaks that can pull the prediction away — look at the right-hand tile. Our hypothesis is that DLoc's consistency decoder, which forces the four APs to agree, suppresses these, and our single-decoder U-Net can't. We haven't tested that yet; adding a training-only consistency decoder to the U-Net is the direct experiment, and it would cost nothing at inference. (~35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nine individual cross-session runs behind the LOSO table — three folds, three seeds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Predicted heatmaps on the two held-out furniture folds. The peaks stay sharp; most errors are a shifted peak rather than a scattered heatmap — the model has learned the geometry, and furniture moves it slightly. (~25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 four, zero-shot — trained on the two July sessions only, tested on the August sessions. Not a DLoc comparison; an internal ablation. Errors grow from session 3 to 5 for every model. Distillation helps only on the hardest reflector session, for both MobileNetV2 and the U-Net.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 five measures seed noise. We retrained DLoc three times for 120 epochs. Important: these are not the teacher. They're worse than our 50-epoch teacher, 0.875 versus 0.707, because the StepLR schedule never decays the learning rate to zero in 120 epochs. What we take from them is the spread: the median moves by about 0.036 m between seeds, a 4% coefficient of variation. Measured in that unit, the U-Net's 0.640 is about two seed-standard-deviations below our teacher, and 6.5 below the 120-epoch runs. The U-Net in-distribution result is a single run; its three-seed cross-session runs vary by only 0.016 to 0.044 m, which is encouraging but not the same test. (~45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 six, efficiency at batch one, measured on our desktop benchmark machine. The U-Net needs 56 times fewer FLOPs than DLoc and runs ten times faster on the CPU — 27 milliseconds. One important scope note: this is network inference only. Turning raw CSI into the four AoA–ToF heatmaps is a separate preprocessing step, done in MATLAB in our pipeline, and it is not in these numbers; on a real edge device it may well dominate, so it's the first thing we'd measure when deploying. (~35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parameter counts on a log scale. DLoc at 16.5 million; both MobileNetV2 variants around 2.3 to 2.4 million — about seven times smaller; Mamba at 0.65 million; and TinyCNN at 47 thousand, 351 times smaller. Size alone doesn't predict accuracy — Mamba is smaller than MobileNetV2 but fails because it drops the 2-D framing. (~25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conclude — five findings. One: DLoc is over-parameterized; MobileNetV2 reaches the same median as our teacher at 7.2 times fewer parameters. Two: architecture beats parameters; the U-Net's skips give 0.640 m, level with published DLoc. Three: distillation is not a general robustness boost — it helps under AP dropout and rescues models without skips, but on the U-Net it slightly hurts noise robustness. Four: two robustness mechanisms — skips for noise, distillation for AP dropout. Five: cross-session we're within 0.14 m of DLoc on every fold, 0.07 m on average, at 6.8 times fewer parameters and 56 times less compute. (~50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work. First, the experiment the reflector result asks for: add DLoc's consistency decoder to the U-Net. It's only used during training, so it costs nothing at inference, and it directly tests our hypothesis about the reflector gap. Second, sub-pixel peak refinement — a soft arg-max or parabolic fit — so medians are no longer tied to the 0.1 m grid. Then deployment on edge hardware including the preprocessing, a new CSI dataset at E-JUST, training-time corruption augmentation, and 2-D scan variants of Mamba. (~35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— happy to take questions. Backup slides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31520" y="640080"/>
            <a:ext cx="128016" cy="12801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87552" y="640080"/>
            <a:ext cx="128016" cy="12801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43584" y="640080"/>
            <a:ext cx="128016" cy="12801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99616" y="640080"/>
            <a:ext cx="128016" cy="128016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914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FD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 2026 · NILE UNIVERSITY, EGYPT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2344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Edge-Efficient WiFi Indoor Localization via Lightweight Deep Learning and Knowledge Distillation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9718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Abdulrahman M. A. Ebrahim  ·  Ahmed E. A. Haggag  ·  Fadwa Y. K. Mahmoud  ·  Ehab H. Elshazly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Egypt-Japan University of Science and Technology (E-JUST), Alexandria, Egypt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F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ID 1571324247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indoor localization — light enough to deploy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 2026 · Edge-Efficient WiFi Indoor Localization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 ·  2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57200" y="1325880"/>
            <a:ext cx="2624328" cy="2286000"/>
          </a:xfrm>
          <a:prstGeom prst="roundRect">
            <a:avLst>
              <a:gd name="adj" fmla="val 320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207008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103120"/>
            <a:ext cx="22585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Hospitals, warehouses, and robots need </a:t>
            </a:r>
            <a:r>
              <a:rPr lang="en-US" sz="13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location</a:t>
            </a: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GPS fails indoors, and </a:t>
            </a:r>
            <a:r>
              <a:rPr lang="en-US" sz="13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is already installed</a:t>
            </a: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64408" y="1325880"/>
            <a:ext cx="2624328" cy="2286000"/>
          </a:xfrm>
          <a:prstGeom prst="roundRect">
            <a:avLst>
              <a:gd name="adj" fmla="val 320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47288" y="1508760"/>
            <a:ext cx="457200" cy="4572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447288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014216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3447288" y="2103120"/>
            <a:ext cx="22585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accurate WiFi localizers are </a:t>
            </a:r>
            <a:r>
              <a:rPr lang="en-US" sz="1300" b="1" dirty="0">
                <a:solidFill>
                  <a:srgbClr val="C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and computationally heavy</a:t>
            </a: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too heavy for the small everyday devices where localization is needed.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071616" y="1325880"/>
            <a:ext cx="2624328" cy="2286000"/>
          </a:xfrm>
          <a:prstGeom prst="roundRect">
            <a:avLst>
              <a:gd name="adj" fmla="val 320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54496" y="150876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5449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821424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254496" y="2103120"/>
            <a:ext cx="22585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much </a:t>
            </a:r>
            <a:r>
              <a:rPr lang="en-US" sz="13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models</a:t>
            </a: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train them to </a:t>
            </a:r>
            <a:r>
              <a:rPr lang="en-US" sz="13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imitate the large, accurate one</a:t>
            </a: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keep the accuracy, shed the weight.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38404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  </a:t>
            </a: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accurate indoor localization, but make it light enough to run where it is needed — without giving up accuracy, reliability, or the ability to work in new environments.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7FD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920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DLoc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788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indoor localization is hard — and how DLoc solves it, at a cost.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31520" y="1280160"/>
            <a:ext cx="128016" cy="12801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87552" y="1280160"/>
            <a:ext cx="128016" cy="12801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43584" y="1280160"/>
            <a:ext cx="128016" cy="12801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99616" y="1280160"/>
            <a:ext cx="128016" cy="128016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WiFi signal to a location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 2026 · Edge-Efficient WiFi Indoor Localization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 ·  4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access point measures </a:t>
            </a:r>
            <a:r>
              <a:rPr lang="en-US" sz="15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State Information (CSI)</a:t>
            </a:r>
            <a:r>
              <a:rPr lang="en-US" sz="15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complex channel per subcarrier and antenna. Phase carries the geometric cues: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201168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2103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across antennas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468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angle of arrival (AoA)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663440" y="201168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00600" y="2103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across subcarriers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800600" y="2468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time of flight (ToF)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32461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Indoors the signal bounces: </a:t>
            </a:r>
            <a:r>
              <a:rPr lang="en-US" sz="1500" b="1" dirty="0">
                <a:solidFill>
                  <a:srgbClr val="C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multipath &amp; non-line-of-sight (NLOS)</a:t>
            </a:r>
            <a:r>
              <a:rPr lang="en-US" sz="15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break classical geometry.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Unsynced clocks add an unknown </a:t>
            </a:r>
            <a:r>
              <a:rPr lang="en-US" sz="1500" b="1" dirty="0">
                <a:solidFill>
                  <a:srgbClr val="C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 offset</a:t>
            </a:r>
            <a:r>
              <a:rPr lang="en-US" sz="15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shifts each AP's estimate by 10–15 m.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APs therefore </a:t>
            </a:r>
            <a:r>
              <a:rPr lang="en-US" sz="15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</a:t>
            </a:r>
            <a:r>
              <a:rPr lang="en-US" sz="15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learned model has to reconcile them.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DLOC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DLoc: localization as image translation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 2026 · Edge-Efficient WiFi Indoor Localization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DLoc  ·  5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each AP's CSI into a 2-D </a:t>
            </a:r>
            <a:r>
              <a:rPr lang="en-US" sz="15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r>
              <a:rPr lang="en-US" sz="15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 the floor, then learn to translate the 4-channel image into one clean location heatmap. </a:t>
            </a:r>
            <a:r>
              <a:rPr lang="en-US" sz="15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brightest pixel is the answer.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2331720"/>
            <a:ext cx="1143000" cy="868680"/>
          </a:xfrm>
          <a:prstGeom prst="roundRect">
            <a:avLst>
              <a:gd name="adj" fmla="val 6316"/>
            </a:avLst>
          </a:prstGeom>
          <a:solidFill>
            <a:srgbClr val="F4F7F8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2331720"/>
            <a:ext cx="11430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CSI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APs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627632" y="2766060"/>
            <a:ext cx="219456" cy="914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1874520" y="2331720"/>
            <a:ext cx="1143000" cy="868680"/>
          </a:xfrm>
          <a:prstGeom prst="roundRect">
            <a:avLst>
              <a:gd name="adj" fmla="val 6316"/>
            </a:avLst>
          </a:prstGeom>
          <a:solidFill>
            <a:srgbClr val="F4F7F8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874520" y="2331720"/>
            <a:ext cx="11430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AoA–ToF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044952" y="2766060"/>
            <a:ext cx="219456" cy="914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291840" y="2331720"/>
            <a:ext cx="1143000" cy="868680"/>
          </a:xfrm>
          <a:prstGeom prst="roundRect">
            <a:avLst>
              <a:gd name="adj" fmla="val 6316"/>
            </a:avLst>
          </a:prstGeom>
          <a:solidFill>
            <a:srgbClr val="F4F7F8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291840" y="2331720"/>
            <a:ext cx="11430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4-channel image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4×161×361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462272" y="2766060"/>
            <a:ext cx="219456" cy="914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4709160" y="2331720"/>
            <a:ext cx="1143000" cy="868680"/>
          </a:xfrm>
          <a:prstGeom prst="roundRect">
            <a:avLst>
              <a:gd name="adj" fmla="val 6316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709160" y="2331720"/>
            <a:ext cx="11430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879592" y="2766060"/>
            <a:ext cx="219456" cy="914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6126480" y="2331720"/>
            <a:ext cx="1143000" cy="868680"/>
          </a:xfrm>
          <a:prstGeom prst="roundRect">
            <a:avLst>
              <a:gd name="adj" fmla="val 6316"/>
            </a:avLst>
          </a:prstGeom>
          <a:solidFill>
            <a:srgbClr val="F4F7F8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126480" y="2331720"/>
            <a:ext cx="11430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heatmap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1×161×361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296912" y="2766060"/>
            <a:ext cx="219456" cy="914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7543800" y="2331720"/>
            <a:ext cx="1143000" cy="868680"/>
          </a:xfrm>
          <a:prstGeom prst="roundRect">
            <a:avLst>
              <a:gd name="adj" fmla="val 6316"/>
            </a:avLst>
          </a:prstGeom>
          <a:solidFill>
            <a:srgbClr val="FBE6DF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543800" y="2331720"/>
            <a:ext cx="11430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 max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(x, y)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57200" y="3611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0080" y="3611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</a:t>
            </a: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 m / pixel (16.1 m × 36.1 m floor).   </a:t>
            </a:r>
            <a:r>
              <a:rPr lang="en-US" sz="13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Gaussian bump at the true location.   </a:t>
            </a:r>
            <a:r>
              <a:rPr lang="en-US" sz="13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of the predicted heatmap.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DLOC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encoder, two decoders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 2026 · Edge-Efficient WiFi Indoor Localization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DLoc  ·  6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57200" y="2606040"/>
            <a:ext cx="777240" cy="548640"/>
          </a:xfrm>
          <a:prstGeom prst="roundRect">
            <a:avLst>
              <a:gd name="adj" fmla="val 10000"/>
            </a:avLst>
          </a:prstGeom>
          <a:solidFill>
            <a:srgbClr val="F4F7F8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2606040"/>
            <a:ext cx="7772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4×161×361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298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ResNet encoder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463040" y="162763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DFF1EE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463040" y="1627632"/>
            <a:ext cx="1188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 ×2 · 64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463040" y="2249424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DFF1EE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463040" y="2249424"/>
            <a:ext cx="1188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Res · 128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463040" y="2871216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DFF1EE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463040" y="2871216"/>
            <a:ext cx="1188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Res · 256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463040" y="3493008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463040" y="3493008"/>
            <a:ext cx="1188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Res · 512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 flipV="1">
            <a:off x="1234440" y="1856232"/>
            <a:ext cx="228600" cy="1024128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2057400" y="2084832"/>
            <a:ext cx="914" cy="164592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2057400" y="2706624"/>
            <a:ext cx="914" cy="164592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2057400" y="3328416"/>
            <a:ext cx="914" cy="164592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2834640" y="3493008"/>
            <a:ext cx="685800" cy="457200"/>
          </a:xfrm>
          <a:prstGeom prst="roundRect">
            <a:avLst>
              <a:gd name="adj" fmla="val 12000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834640" y="3493008"/>
            <a:ext cx="685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651760" y="3721608"/>
            <a:ext cx="182880" cy="914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3703320" y="1783080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D6E4E8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703320" y="1783080"/>
            <a:ext cx="13258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decoder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703320" y="3474720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FBE6DF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703320" y="3474720"/>
            <a:ext cx="13258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decoder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 flipV="1">
            <a:off x="3182112" y="2194560"/>
            <a:ext cx="521208" cy="1298448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3520440" y="3721608"/>
            <a:ext cx="182880" cy="914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32" name="Text 29"/>
          <p:cNvSpPr txBox="1"/>
          <p:nvPr/>
        </p:nvSpPr>
        <p:spPr>
          <a:xfrm>
            <a:off x="3520440" y="23042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· read at inference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3520440" y="399592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AP maps · training only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5486400" y="1371600"/>
            <a:ext cx="32004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35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decoder</a:t>
            </a:r>
            <a:r>
              <a:rPr lang="en-US" sz="13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produces the heatmap we read at inference.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35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(offset) decoder</a:t>
            </a:r>
            <a:r>
              <a:rPr lang="en-US" sz="13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forces the four APs to </a:t>
            </a:r>
            <a:r>
              <a:rPr lang="en-US" sz="135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</a:t>
            </a:r>
            <a:r>
              <a:rPr lang="en-US" sz="13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its job at training time.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doing so it </a:t>
            </a:r>
            <a:r>
              <a:rPr lang="en-US" sz="135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clock offset</a:t>
            </a:r>
            <a:r>
              <a:rPr lang="en-US" sz="13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5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multipath</a:t>
            </a:r>
            <a:r>
              <a:rPr lang="en-US" sz="13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(picks the direct path) and </a:t>
            </a:r>
            <a:r>
              <a:rPr lang="en-US" sz="135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sharpens low-bandwidth inputs</a:t>
            </a:r>
            <a:r>
              <a:rPr lang="en-US" sz="13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 can't fix itself; four mutually consistent APs can.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DLOC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— but too heavy for the edge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 2026 · Edge-Efficient WiFi Indoor Localization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DLoc  ·  7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57200" y="141732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554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16.5M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331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60320" y="141732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560320" y="1554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G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2651760" y="2331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FLOPs / inference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141732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63440" y="1554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271 ms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4754880" y="2331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latency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766560" y="141732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766560" y="1554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 m</a:t>
            </a:r>
            <a:endParaRPr lang="en-US" sz="3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0" y="2331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error (our teacher;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0.64 m)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central question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cost inherent to the problem — or is DLoc simply over-parameterized?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METHOD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levers: architecture &amp; distillation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 2026 · Edge-Efficient WiFi Indoor Localization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method  ·  8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57200" y="2103120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2103120"/>
            <a:ext cx="12344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AoA–ToF maps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148840" y="1325880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D6E4E8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48840" y="1325880"/>
            <a:ext cx="18288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DLoc teacher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(frozen, 16.5M)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148840" y="2971800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DFF1EE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148840" y="2971800"/>
            <a:ext cx="18288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(lightweight)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434840" y="1325880"/>
            <a:ext cx="1600200" cy="822960"/>
          </a:xfrm>
          <a:prstGeom prst="roundRect">
            <a:avLst>
              <a:gd name="adj" fmla="val 6667"/>
            </a:avLst>
          </a:prstGeom>
          <a:solidFill>
            <a:srgbClr val="F4F7F8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34840" y="1325880"/>
            <a:ext cx="16002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heatmap y_T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once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434840" y="2971800"/>
            <a:ext cx="1600200" cy="822960"/>
          </a:xfrm>
          <a:prstGeom prst="roundRect">
            <a:avLst>
              <a:gd name="adj" fmla="val 6667"/>
            </a:avLst>
          </a:prstGeom>
          <a:solidFill>
            <a:srgbClr val="FBE6DF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434840" y="2971800"/>
            <a:ext cx="16002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ŷ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37960" y="2057400"/>
            <a:ext cx="2148840" cy="1005840"/>
          </a:xfrm>
          <a:prstGeom prst="roundRect">
            <a:avLst>
              <a:gd name="adj" fmla="val 5455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37960" y="2057400"/>
            <a:ext cx="214884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0.7·MSE(ŷ, y)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+ 0.3·MSE(ŷ, y_T)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812280" y="352044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F4F7F8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12280" y="3520440"/>
            <a:ext cx="16002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y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 flipV="1">
            <a:off x="1691640" y="1737360"/>
            <a:ext cx="457200" cy="640080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1691640" y="2743200"/>
            <a:ext cx="457200" cy="640080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3977640" y="1737360"/>
            <a:ext cx="457200" cy="914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3977640" y="3383280"/>
            <a:ext cx="457200" cy="914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6035040" y="1737360"/>
            <a:ext cx="502920" cy="594360"/>
          </a:xfrm>
          <a:prstGeom prst="line">
            <a:avLst/>
          </a:prstGeom>
          <a:noFill/>
          <a:ln w="15875">
            <a:solidFill>
              <a:srgbClr val="1F7A6F"/>
            </a:solidFill>
            <a:prstDash val="dash"/>
            <a:tailEnd type="triangle"/>
          </a:ln>
        </p:spPr>
      </p:sp>
      <p:sp>
        <p:nvSpPr>
          <p:cNvPr id="27" name="Shape 24"/>
          <p:cNvSpPr/>
          <p:nvPr/>
        </p:nvSpPr>
        <p:spPr>
          <a:xfrm flipV="1">
            <a:off x="6035040" y="2788920"/>
            <a:ext cx="502920" cy="594360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 flipV="1">
            <a:off x="7607808" y="3063240"/>
            <a:ext cx="914" cy="457200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29" name="Text 26"/>
          <p:cNvSpPr txBox="1"/>
          <p:nvPr/>
        </p:nvSpPr>
        <p:spPr>
          <a:xfrm>
            <a:off x="6080760" y="1371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distilled only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Standalone: </a:t>
            </a: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0 — ground truth only.   </a:t>
            </a:r>
            <a:r>
              <a:rPr lang="en-US" sz="13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Distilled: </a:t>
            </a: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0.7, β = 0.3.   </a:t>
            </a:r>
            <a:r>
              <a:rPr lang="en-US" sz="13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Deployed: </a:t>
            </a: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alone.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7FD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920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Models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788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lightweight students — from a sequence model to a U-Net — each a different bet on architecture.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31520" y="1280160"/>
            <a:ext cx="128016" cy="12801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87552" y="1280160"/>
            <a:ext cx="128016" cy="12801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43584" y="1280160"/>
            <a:ext cx="128016" cy="12801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99616" y="1280160"/>
            <a:ext cx="128016" cy="128016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28700" cy="237744"/>
          </a:xfrm>
          <a:prstGeom prst="roundRect">
            <a:avLst>
              <a:gd name="adj" fmla="val 50000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0287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/ 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Mamba — a selective state-space model (0.65M)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 2026 · Edge-Efficient WiFi Indoor Localization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 ·  10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57200" y="1775079"/>
            <a:ext cx="1188720" cy="427482"/>
          </a:xfrm>
          <a:prstGeom prst="roundRect">
            <a:avLst>
              <a:gd name="adj" fmla="val 12834"/>
            </a:avLst>
          </a:prstGeom>
          <a:solidFill>
            <a:srgbClr val="DFF1EE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775079"/>
            <a:ext cx="1188720" cy="427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664208" y="1988820"/>
            <a:ext cx="182880" cy="914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420624" y="2450592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Conv(4→32)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Conv(32→64, s=2)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Conv(64→128, s=2)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402336" y="310896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[128,41,91]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865376" y="1775079"/>
            <a:ext cx="1188720" cy="427482"/>
          </a:xfrm>
          <a:prstGeom prst="roundRect">
            <a:avLst>
              <a:gd name="adj" fmla="val 12834"/>
            </a:avLst>
          </a:prstGeom>
          <a:solidFill>
            <a:srgbClr val="DFF1EE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865376" y="1775079"/>
            <a:ext cx="1188720" cy="427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072384" y="1988820"/>
            <a:ext cx="182880" cy="914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1828800" y="2450592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spatial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sequence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810512" y="310896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[3731,128]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273552" y="1775079"/>
            <a:ext cx="1188720" cy="427482"/>
          </a:xfrm>
          <a:prstGeom prst="roundRect">
            <a:avLst>
              <a:gd name="adj" fmla="val 12834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273552" y="1775079"/>
            <a:ext cx="1188720" cy="427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×4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480560" y="1988820"/>
            <a:ext cx="182880" cy="914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3236976" y="2450592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 →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Mamba (S6) →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3218688" y="310896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[3731,128]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681728" y="1775079"/>
            <a:ext cx="1188720" cy="427482"/>
          </a:xfrm>
          <a:prstGeom prst="roundRect">
            <a:avLst>
              <a:gd name="adj" fmla="val 12834"/>
            </a:avLst>
          </a:prstGeom>
          <a:solidFill>
            <a:srgbClr val="D6E4E8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681728" y="1775079"/>
            <a:ext cx="1188720" cy="427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888736" y="1988820"/>
            <a:ext cx="182880" cy="914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26" name="Text 23"/>
          <p:cNvSpPr txBox="1"/>
          <p:nvPr/>
        </p:nvSpPr>
        <p:spPr>
          <a:xfrm>
            <a:off x="4645152" y="2450592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spatial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4626864" y="310896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[128,41,91]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089904" y="1600200"/>
            <a:ext cx="1188720" cy="777240"/>
          </a:xfrm>
          <a:prstGeom prst="roundRect">
            <a:avLst>
              <a:gd name="adj" fmla="val 7059"/>
            </a:avLst>
          </a:prstGeom>
          <a:solidFill>
            <a:srgbClr val="D6E4E8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089904" y="1600200"/>
            <a:ext cx="11887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296912" y="1988820"/>
            <a:ext cx="182880" cy="914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31" name="Text 28"/>
          <p:cNvSpPr txBox="1"/>
          <p:nvPr/>
        </p:nvSpPr>
        <p:spPr>
          <a:xfrm>
            <a:off x="6053328" y="2450592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interpolate →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Conv(128→64)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Conv(64→32)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6035040" y="310896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[32,161,361]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7498080" y="1600200"/>
            <a:ext cx="1188720" cy="777240"/>
          </a:xfrm>
          <a:prstGeom prst="roundRect">
            <a:avLst>
              <a:gd name="adj" fmla="val 7059"/>
            </a:avLst>
          </a:prstGeom>
          <a:solidFill>
            <a:srgbClr val="FBE6DF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498080" y="1600200"/>
            <a:ext cx="11887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7461504" y="2450592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1×1 (32→1)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7443216" y="310896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[1,161,361]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1307592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3273552" y="130759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 CORE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4681728" y="1307592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3A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94360" y="34930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r>
              <a:rPr lang="en-US" sz="1400" b="1" baseline="-40000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sz="14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Ā h</a:t>
            </a:r>
            <a:r>
              <a:rPr lang="en-US" sz="1400" b="1" baseline="-40000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t−1</a:t>
            </a:r>
            <a:r>
              <a:rPr lang="en-US" sz="14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B̄ x</a:t>
            </a:r>
            <a:r>
              <a:rPr lang="en-US" sz="1400" b="1" baseline="-40000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sz="14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y</a:t>
            </a:r>
            <a:r>
              <a:rPr lang="en-US" sz="1400" b="1" baseline="-40000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sz="14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C h</a:t>
            </a:r>
            <a:r>
              <a:rPr lang="en-US" sz="1400" b="1" baseline="-40000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594360" y="38404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000" baseline="-400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0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memory (keeps updating) · x</a:t>
            </a:r>
            <a:r>
              <a:rPr lang="en-US" sz="1000" baseline="-400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0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token · y</a:t>
            </a:r>
            <a:r>
              <a:rPr lang="en-US" sz="1000" baseline="-400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0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output · Ā forget/remember matrix · B̄ input matrix (how important the input is)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BE6DF"/>
          </a:solidFill>
          <a:ln w="12700">
            <a:solidFill>
              <a:srgbClr val="FBE6D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800600" y="3493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4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4800600" y="376732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Flattening the 2-D map into a 1-D scan destroys spatial locality — floor neighbours end up far apart in a 3,731-token sequence. Training and test error rise together from epoch 1 — it never fits, so not overfitting. 2-D multi-direction scans (VMamba) untested.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28700" cy="237744"/>
          </a:xfrm>
          <a:prstGeom prst="roundRect">
            <a:avLst>
              <a:gd name="adj" fmla="val 50000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0287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/ 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TinyCNN — the minimal baseline (47K)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 2026 · Edge-Efficient WiFi Indoor Localization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 ·  11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57200" y="1765249"/>
            <a:ext cx="1188720" cy="538582"/>
          </a:xfrm>
          <a:prstGeom prst="roundRect">
            <a:avLst>
              <a:gd name="adj" fmla="val 10187"/>
            </a:avLst>
          </a:prstGeom>
          <a:solidFill>
            <a:srgbClr val="DFF1EE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765249"/>
            <a:ext cx="1188720" cy="5385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 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664208" y="2034540"/>
            <a:ext cx="182880" cy="914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420624" y="2542032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Conv(4→16), BN, ReLU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DWS(16→16)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 ×2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402336" y="320040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[16,H/2,W/2]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865376" y="1842516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DFF1EE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865376" y="1842516"/>
            <a:ext cx="11887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 2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072384" y="2034540"/>
            <a:ext cx="182880" cy="914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1828800" y="2542032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DWS(16→32)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DWS(32→32)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 ×2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810512" y="320040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[32,H/4,W/4]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273552" y="1842516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273552" y="1842516"/>
            <a:ext cx="11887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 3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480560" y="2034540"/>
            <a:ext cx="182880" cy="914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3236976" y="2542032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DWS(32→64)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3218688" y="320040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[64,H/4,W/4]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681728" y="1765249"/>
            <a:ext cx="1188720" cy="538582"/>
          </a:xfrm>
          <a:prstGeom prst="roundRect">
            <a:avLst>
              <a:gd name="adj" fmla="val 10187"/>
            </a:avLst>
          </a:prstGeom>
          <a:solidFill>
            <a:srgbClr val="D6E4E8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681728" y="1765249"/>
            <a:ext cx="1188720" cy="5385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1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888736" y="2034540"/>
            <a:ext cx="182880" cy="914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26" name="Text 23"/>
          <p:cNvSpPr txBox="1"/>
          <p:nvPr/>
        </p:nvSpPr>
        <p:spPr>
          <a:xfrm>
            <a:off x="4645152" y="2542032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ConvTranspose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(64→32, s=2)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4626864" y="320040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[32,H/2,W/2]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089904" y="1600200"/>
            <a:ext cx="1188720" cy="868680"/>
          </a:xfrm>
          <a:prstGeom prst="roundRect">
            <a:avLst>
              <a:gd name="adj" fmla="val 6316"/>
            </a:avLst>
          </a:prstGeom>
          <a:solidFill>
            <a:srgbClr val="D6E4E8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089904" y="1600200"/>
            <a:ext cx="118872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296912" y="2034540"/>
            <a:ext cx="182880" cy="914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31" name="Text 28"/>
          <p:cNvSpPr txBox="1"/>
          <p:nvPr/>
        </p:nvSpPr>
        <p:spPr>
          <a:xfrm>
            <a:off x="6053328" y="2542032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ConvTranspose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(32→16, s=2)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6035040" y="320040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[16,H,W]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7498080" y="1600200"/>
            <a:ext cx="1188720" cy="868680"/>
          </a:xfrm>
          <a:prstGeom prst="roundRect">
            <a:avLst>
              <a:gd name="adj" fmla="val 6316"/>
            </a:avLst>
          </a:prstGeom>
          <a:solidFill>
            <a:srgbClr val="FBE6DF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498080" y="1600200"/>
            <a:ext cx="118872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7461504" y="2542032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1×1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(16→1)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7443216" y="320040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[1,161,361]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1307592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4681728" y="1307592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3A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57200" y="352044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4008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640080" y="3995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</a:t>
            </a:r>
            <a:r>
              <a:rPr lang="en-US" sz="11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depthwise-separable convolution: a per-channel 3×3 conv followed by a 1×1 conv — far fewer weights than a full conv.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4663440" y="352044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BE6DF"/>
          </a:solidFill>
          <a:ln w="12700">
            <a:solidFill>
              <a:srgbClr val="FBE6D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84632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4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tried it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4846320" y="3995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 </a:t>
            </a:r>
            <a:r>
              <a:rPr lang="en-US" sz="11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probe</a:t>
            </a:r>
            <a:r>
              <a:rPr lang="en-US" sz="11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how small can the network get before it stops working? By far the </a:t>
            </a:r>
            <a:r>
              <a:rPr lang="en-US" sz="1100" b="1" dirty="0">
                <a:solidFill>
                  <a:srgbClr val="C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capacity</a:t>
            </a:r>
            <a:r>
              <a:rPr lang="en-US" sz="11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28700" cy="237744"/>
          </a:xfrm>
          <a:prstGeom prst="roundRect">
            <a:avLst>
              <a:gd name="adj" fmla="val 50000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0287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 / 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— an efficient encoder–decoder (2.27M)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 2026 · Edge-Efficient WiFi Indoor Localization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 ·  12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57200" y="1600200"/>
            <a:ext cx="1018903" cy="868680"/>
          </a:xfrm>
          <a:prstGeom prst="roundRect">
            <a:avLst>
              <a:gd name="adj" fmla="val 6316"/>
            </a:avLst>
          </a:prstGeom>
          <a:solidFill>
            <a:srgbClr val="F4F7F8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600200"/>
            <a:ext cx="1018903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494391" y="2034540"/>
            <a:ext cx="146304" cy="914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420624" y="2542032"/>
            <a:ext cx="10920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4-channel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402336" y="3200400"/>
            <a:ext cx="11286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[4,161,361]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658983" y="1842516"/>
            <a:ext cx="1018903" cy="384048"/>
          </a:xfrm>
          <a:prstGeom prst="roundRect">
            <a:avLst>
              <a:gd name="adj" fmla="val 14286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658983" y="1842516"/>
            <a:ext cx="1018903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696174" y="2034540"/>
            <a:ext cx="146304" cy="914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1622407" y="2542032"/>
            <a:ext cx="10920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(4→320)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604119" y="3200400"/>
            <a:ext cx="11286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ch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860766" y="1795653"/>
            <a:ext cx="1018903" cy="477774"/>
          </a:xfrm>
          <a:prstGeom prst="roundRect">
            <a:avLst>
              <a:gd name="adj" fmla="val 11483"/>
            </a:avLst>
          </a:prstGeom>
          <a:solidFill>
            <a:srgbClr val="D6E4E8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860766" y="1795653"/>
            <a:ext cx="1018903" cy="477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1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897957" y="2034540"/>
            <a:ext cx="146304" cy="914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2824190" y="2542032"/>
            <a:ext cx="10920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Upsample, Conv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BN, ReLU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2805902" y="3200400"/>
            <a:ext cx="11286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320→128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062549" y="1730502"/>
            <a:ext cx="1018903" cy="608076"/>
          </a:xfrm>
          <a:prstGeom prst="roundRect">
            <a:avLst>
              <a:gd name="adj" fmla="val 9023"/>
            </a:avLst>
          </a:prstGeom>
          <a:solidFill>
            <a:srgbClr val="D6E4E8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062549" y="1730502"/>
            <a:ext cx="1018903" cy="608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2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099739" y="2034540"/>
            <a:ext cx="146304" cy="914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26" name="Text 23"/>
          <p:cNvSpPr txBox="1"/>
          <p:nvPr/>
        </p:nvSpPr>
        <p:spPr>
          <a:xfrm>
            <a:off x="4025973" y="2542032"/>
            <a:ext cx="10920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Upsample, Conv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BN, ReLU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4007685" y="3200400"/>
            <a:ext cx="11286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128→64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264331" y="1665351"/>
            <a:ext cx="1018903" cy="738378"/>
          </a:xfrm>
          <a:prstGeom prst="roundRect">
            <a:avLst>
              <a:gd name="adj" fmla="val 7430"/>
            </a:avLst>
          </a:prstGeom>
          <a:solidFill>
            <a:srgbClr val="D6E4E8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264331" y="1665351"/>
            <a:ext cx="1018903" cy="738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3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301522" y="2034540"/>
            <a:ext cx="146304" cy="914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31" name="Text 28"/>
          <p:cNvSpPr txBox="1"/>
          <p:nvPr/>
        </p:nvSpPr>
        <p:spPr>
          <a:xfrm>
            <a:off x="5227755" y="2542032"/>
            <a:ext cx="10920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Upsample, Conv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BN, ReLU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5209467" y="3200400"/>
            <a:ext cx="11286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64→32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466114" y="1665351"/>
            <a:ext cx="1018903" cy="738378"/>
          </a:xfrm>
          <a:prstGeom prst="roundRect">
            <a:avLst>
              <a:gd name="adj" fmla="val 7430"/>
            </a:avLst>
          </a:prstGeom>
          <a:solidFill>
            <a:srgbClr val="FBE6DF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466114" y="1665351"/>
            <a:ext cx="1018903" cy="738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503305" y="2034540"/>
            <a:ext cx="146304" cy="914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36" name="Text 33"/>
          <p:cNvSpPr txBox="1"/>
          <p:nvPr/>
        </p:nvSpPr>
        <p:spPr>
          <a:xfrm>
            <a:off x="6429538" y="2542032"/>
            <a:ext cx="10920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1×1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850" dirty="0"/>
          </a:p>
        </p:txBody>
      </p:sp>
      <p:sp>
        <p:nvSpPr>
          <p:cNvPr id="37" name="Text 34"/>
          <p:cNvSpPr txBox="1"/>
          <p:nvPr/>
        </p:nvSpPr>
        <p:spPr>
          <a:xfrm>
            <a:off x="6411250" y="3200400"/>
            <a:ext cx="11286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32→1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7667897" y="1600200"/>
            <a:ext cx="1018903" cy="868680"/>
          </a:xfrm>
          <a:prstGeom prst="roundRect">
            <a:avLst>
              <a:gd name="adj" fmla="val 6316"/>
            </a:avLst>
          </a:prstGeom>
          <a:solidFill>
            <a:srgbClr val="FBE6DF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667897" y="1600200"/>
            <a:ext cx="1018903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7631321" y="2542032"/>
            <a:ext cx="10920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bilinear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interpolation</a:t>
            </a:r>
            <a:endParaRPr lang="en-US" sz="850" dirty="0"/>
          </a:p>
        </p:txBody>
      </p:sp>
      <p:sp>
        <p:nvSpPr>
          <p:cNvPr id="41" name="Text 38"/>
          <p:cNvSpPr txBox="1"/>
          <p:nvPr/>
        </p:nvSpPr>
        <p:spPr>
          <a:xfrm>
            <a:off x="7613033" y="3200400"/>
            <a:ext cx="11286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[1,161,361]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658983" y="1307592"/>
            <a:ext cx="10189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2860766" y="1307592"/>
            <a:ext cx="34224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3A5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6466114" y="1307592"/>
            <a:ext cx="22206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B04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57200" y="352044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94360" y="3566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residual: narrow → wide → narrow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685800" y="4069080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F4F7F8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85800" y="4069080"/>
            <a:ext cx="10058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1×1 expand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1709928" y="4206240"/>
            <a:ext cx="219456" cy="914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50" name="Shape 47"/>
          <p:cNvSpPr/>
          <p:nvPr/>
        </p:nvSpPr>
        <p:spPr>
          <a:xfrm>
            <a:off x="1947672" y="4014216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DFF1EE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1947672" y="4014216"/>
            <a:ext cx="10058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depthwise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2971800" y="4206240"/>
            <a:ext cx="219456" cy="914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53" name="Shape 50"/>
          <p:cNvSpPr/>
          <p:nvPr/>
        </p:nvSpPr>
        <p:spPr>
          <a:xfrm>
            <a:off x="3209544" y="4069080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F4F7F8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209544" y="4069080"/>
            <a:ext cx="10058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1×1 project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4663440" y="352044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BE6DF"/>
          </a:solidFill>
          <a:ln w="12700">
            <a:solidFill>
              <a:srgbClr val="FBE6D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484632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4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</a:t>
            </a:r>
            <a:endParaRPr lang="en-US" sz="1300" dirty="0"/>
          </a:p>
        </p:txBody>
      </p:sp>
      <p:sp>
        <p:nvSpPr>
          <p:cNvPr id="57" name="Text 54"/>
          <p:cNvSpPr txBox="1"/>
          <p:nvPr/>
        </p:nvSpPr>
        <p:spPr>
          <a:xfrm>
            <a:off x="4846320" y="3995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skip connections</a:t>
            </a:r>
            <a:r>
              <a:rPr lang="en-US" sz="11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bit of spatial detail must squeeze through the bottleneck. The next model fixes exactly this.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194560" cy="237744"/>
          </a:xfrm>
          <a:prstGeom prst="roundRect">
            <a:avLst>
              <a:gd name="adj" fmla="val 50000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4 / 4 · OUR MAIN MODEL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MobileNetV2-UNet — the same encoder, plus skips (2.41M)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 2026 · Edge-Efficient WiFi Indoor Localization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 ·  13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57200" y="1325880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F4F7F8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325880"/>
            <a:ext cx="10515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4×161×361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982980" y="1655064"/>
            <a:ext cx="914" cy="173736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02920" y="182880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F4F7F8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" y="1828800"/>
            <a:ext cx="960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 4→32 /2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77240" y="233172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DFF1EE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331720"/>
            <a:ext cx="960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enc1 · 24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982980" y="2194560"/>
            <a:ext cx="274320" cy="137160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1051560" y="283464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DFF1EE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51560" y="2834640"/>
            <a:ext cx="960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enc2 · 32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257300" y="2697480"/>
            <a:ext cx="274320" cy="137160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1325880" y="333756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DFF1EE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25880" y="3337560"/>
            <a:ext cx="960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enc3 · 96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1531620" y="3200400"/>
            <a:ext cx="274320" cy="137160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4160520" y="182880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FBE6DF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160520" y="1828800"/>
            <a:ext cx="960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32→1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886200" y="233172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D6E4E8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886200" y="2331720"/>
            <a:ext cx="960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dec3 88→32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 flipV="1">
            <a:off x="4366260" y="2194560"/>
            <a:ext cx="274320" cy="137160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3611880" y="283464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D6E4E8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1880" y="2834640"/>
            <a:ext cx="960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dec2 160→64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 flipV="1">
            <a:off x="4091940" y="2697480"/>
            <a:ext cx="274320" cy="137160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3337560" y="333756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D6E4E8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337560" y="3337560"/>
            <a:ext cx="960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dec1 416→128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 flipV="1">
            <a:off x="3817620" y="3200400"/>
            <a:ext cx="274320" cy="137160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4114800" y="1325880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FBE6DF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114800" y="1325880"/>
            <a:ext cx="10515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1×161×361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 flipV="1">
            <a:off x="4640580" y="1655064"/>
            <a:ext cx="914" cy="173736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36" name="Text 33"/>
          <p:cNvSpPr txBox="1"/>
          <p:nvPr/>
        </p:nvSpPr>
        <p:spPr>
          <a:xfrm>
            <a:off x="5166360" y="1901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1920240" y="3822192"/>
            <a:ext cx="1691640" cy="384048"/>
          </a:xfrm>
          <a:prstGeom prst="roundRect">
            <a:avLst>
              <a:gd name="adj" fmla="val 14286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920240" y="3822192"/>
            <a:ext cx="16916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enc4 · 320 (bottleneck)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1805940" y="3703320"/>
            <a:ext cx="388620" cy="118872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 flipV="1">
            <a:off x="3337560" y="3703320"/>
            <a:ext cx="480060" cy="118872"/>
          </a:xfrm>
          <a:prstGeom prst="line">
            <a:avLst/>
          </a:prstGeom>
          <a:noFill/>
          <a:ln w="1587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1764792" y="2514600"/>
            <a:ext cx="2093976" cy="914"/>
          </a:xfrm>
          <a:prstGeom prst="line">
            <a:avLst/>
          </a:prstGeom>
          <a:noFill/>
          <a:ln w="22225">
            <a:solidFill>
              <a:srgbClr val="2A9D8F"/>
            </a:solidFill>
            <a:prstDash val="dash"/>
            <a:tailEnd type="triangle"/>
          </a:ln>
        </p:spPr>
      </p:sp>
      <p:sp>
        <p:nvSpPr>
          <p:cNvPr id="42" name="Text 39"/>
          <p:cNvSpPr txBox="1"/>
          <p:nvPr/>
        </p:nvSpPr>
        <p:spPr>
          <a:xfrm>
            <a:off x="1920240" y="22951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24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2039112" y="3017520"/>
            <a:ext cx="1545336" cy="914"/>
          </a:xfrm>
          <a:prstGeom prst="line">
            <a:avLst/>
          </a:prstGeom>
          <a:noFill/>
          <a:ln w="22225">
            <a:solidFill>
              <a:srgbClr val="2A9D8F"/>
            </a:solidFill>
            <a:prstDash val="dash"/>
            <a:tailEnd type="triangle"/>
          </a:ln>
        </p:spPr>
      </p:sp>
      <p:sp>
        <p:nvSpPr>
          <p:cNvPr id="44" name="Text 41"/>
          <p:cNvSpPr txBox="1"/>
          <p:nvPr/>
        </p:nvSpPr>
        <p:spPr>
          <a:xfrm>
            <a:off x="2194560" y="27980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32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2313432" y="3520440"/>
            <a:ext cx="996696" cy="914"/>
          </a:xfrm>
          <a:prstGeom prst="line">
            <a:avLst/>
          </a:prstGeom>
          <a:noFill/>
          <a:ln w="22225">
            <a:solidFill>
              <a:srgbClr val="2A9D8F"/>
            </a:solidFill>
            <a:prstDash val="dash"/>
            <a:tailEnd type="triangle"/>
          </a:ln>
        </p:spPr>
      </p:sp>
      <p:sp>
        <p:nvSpPr>
          <p:cNvPr id="46" name="Text 43"/>
          <p:cNvSpPr txBox="1"/>
          <p:nvPr/>
        </p:nvSpPr>
        <p:spPr>
          <a:xfrm>
            <a:off x="2468880" y="33009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96</a:t>
            </a:r>
            <a:endParaRPr lang="en-US" sz="850" dirty="0"/>
          </a:p>
        </p:txBody>
      </p:sp>
      <p:sp>
        <p:nvSpPr>
          <p:cNvPr id="47" name="Text 44"/>
          <p:cNvSpPr txBox="1"/>
          <p:nvPr/>
        </p:nvSpPr>
        <p:spPr>
          <a:xfrm>
            <a:off x="274320" y="42793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encoder (pretrained, 4-ch input)</a:t>
            </a:r>
            <a:endParaRPr lang="en-US" sz="850" dirty="0"/>
          </a:p>
        </p:txBody>
      </p:sp>
      <p:sp>
        <p:nvSpPr>
          <p:cNvPr id="48" name="Text 45"/>
          <p:cNvSpPr txBox="1"/>
          <p:nvPr/>
        </p:nvSpPr>
        <p:spPr>
          <a:xfrm>
            <a:off x="3291840" y="42793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decoder (upsample + skip concat)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5760720" y="1325880"/>
            <a:ext cx="2926080" cy="1508760"/>
          </a:xfrm>
          <a:prstGeom prst="roundRect">
            <a:avLst>
              <a:gd name="adj" fmla="val 4848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94360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</a:t>
            </a:r>
            <a:endParaRPr lang="en-US" sz="1300" dirty="0"/>
          </a:p>
        </p:txBody>
      </p:sp>
      <p:sp>
        <p:nvSpPr>
          <p:cNvPr id="51" name="Text 48"/>
          <p:cNvSpPr txBox="1"/>
          <p:nvPr/>
        </p:nvSpPr>
        <p:spPr>
          <a:xfrm>
            <a:off x="5943600" y="180136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encoder, plus </a:t>
            </a:r>
            <a:r>
              <a:rPr lang="en-US" sz="115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skips</a:t>
            </a: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concatenate encoder features into the decoder: 416 = 320+96, 160 = 128+32, 88 = 64+24.</a:t>
            </a:r>
            <a:endParaRPr lang="en-US" sz="1300" dirty="0"/>
          </a:p>
        </p:txBody>
      </p:sp>
      <p:sp>
        <p:nvSpPr>
          <p:cNvPr id="52" name="Shape 49"/>
          <p:cNvSpPr/>
          <p:nvPr/>
        </p:nvSpPr>
        <p:spPr>
          <a:xfrm>
            <a:off x="5760720" y="3017520"/>
            <a:ext cx="2926080" cy="1508760"/>
          </a:xfrm>
          <a:prstGeom prst="roundRect">
            <a:avLst>
              <a:gd name="adj" fmla="val 4848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94360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5943600" y="349300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localization the </a:t>
            </a:r>
            <a:r>
              <a:rPr lang="en-US" sz="115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detail is the answer</a:t>
            </a: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skips carry it straight past the bottleneck. Our </a:t>
            </a:r>
            <a:r>
              <a:rPr lang="en-US" sz="115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model</a:t>
            </a: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7FD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920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Experiments &amp; Results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788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and setup behind every run — then what the models actually achieved.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31520" y="1280160"/>
            <a:ext cx="128016" cy="12801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87552" y="1280160"/>
            <a:ext cx="128016" cy="12801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43584" y="1280160"/>
            <a:ext cx="128016" cy="12801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99616" y="1280160"/>
            <a:ext cx="128016" cy="128016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WILD: real measurements with ground truth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 2026 · Edge-Efficient WiFi Indoor Localization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 ·  15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3258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</a:t>
            </a:r>
            <a:r>
              <a:rPr lang="en-US" sz="14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public dataset released with DLoc (UC San Diego).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by </a:t>
            </a:r>
            <a:r>
              <a:rPr lang="en-US" sz="14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MapFind</a:t>
            </a:r>
            <a:r>
              <a:rPr lang="en-US" sz="14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TurtleBot2 robot with LIDAR, an RGB-D camera and a Quantenna WiFi card, driving at 15 cm/s.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from </a:t>
            </a:r>
            <a:r>
              <a:rPr lang="en-US" sz="14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 (Simultaneous Localization and Mapping)</a:t>
            </a:r>
            <a:r>
              <a:rPr lang="en-US" sz="14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RTAB-Map: median error </a:t>
            </a:r>
            <a:r>
              <a:rPr lang="en-US" sz="140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5.7 cm</a:t>
            </a:r>
            <a:r>
              <a:rPr lang="en-US" sz="14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CSI logged every 50 ms.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+ SLAM position = one labelled example; </a:t>
            </a:r>
            <a:r>
              <a:rPr lang="en-US" sz="14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~100k points</a:t>
            </a:r>
            <a:r>
              <a:rPr lang="en-US" sz="14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total.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23560" y="1325880"/>
            <a:ext cx="3063240" cy="3200400"/>
          </a:xfrm>
          <a:prstGeom prst="roundRect">
            <a:avLst>
              <a:gd name="adj" fmla="val 2388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0644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space we use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806440" y="1828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4-AP Jacobs Hall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806440" y="2286000"/>
            <a:ext cx="2743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sq ft. </a:t>
            </a:r>
            <a:r>
              <a:rPr lang="en-US" sz="13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4 is hidden behind a wall</a:t>
            </a: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(strong NLOS), and a wall of plasma screens behind AP 3 creates </a:t>
            </a:r>
            <a:r>
              <a:rPr lang="en-US" sz="13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multipath</a:t>
            </a: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sessions — increasing difficulty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 2026 · Edge-Efficient WiFi Indoor Localization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 ·  16</a:t>
            </a:r>
            <a:endParaRPr lang="en-US" sz="8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46888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jacobs_Jul28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(reference conditions)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jacobs_Jul28_2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9,939 train + 4,260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in-distribution test (1 h later, identical)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jacobs_Aug16_1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11,201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furniture rearrangement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jacobs_Aug16_3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8,754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furniture configuration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jacobs_Aug16_4_ref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aluminum reflector (specular multipath)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508760" cy="237744"/>
          </a:xfrm>
          <a:prstGeom prst="roundRect">
            <a:avLst>
              <a:gd name="adj" fmla="val 50000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experiments — and why each split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 2026 · Edge-Efficient WiFi Indoor Localization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 ·  17</a:t>
            </a:r>
            <a:endParaRPr lang="en-US" sz="8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2740152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Tested 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this split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In-distribution 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 1 + 2-train (17,574)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 2 held-out (4,260)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of every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as #1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 2, corrupted at test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deployed robustness — no retraining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Cross-session (LOSO)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setups (leave one Aug out)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held-out Aug session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DLoc's own protocol — fair comparison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July sessions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sessions 3–5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harder shift — internal ablation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Multi-seed stability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DLoc ×3 seeds (same as #1)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 2 held-out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seeds move the median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(trained models)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batch-1 FLOPs &amp; latency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edge-deployment 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five, side by side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 2026 · Edge-Efficient WiFi Indoor Localization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18</a:t>
            </a:r>
            <a:endParaRPr lang="en-US" sz="8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1234440"/>
          <a:ext cx="512064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463040"/>
          <a:ext cx="3017520" cy="2304288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(m)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DLoc (teacher, our repro)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2.27M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TinyCNN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351×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MobileNetV2-UNet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2.41M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Mamba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C05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057400" cy="237744"/>
          </a:xfrm>
          <a:prstGeom prst="roundRect">
            <a:avLst>
              <a:gd name="adj" fmla="val 50000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EXPERIMENT 1 / 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In-distribution accuracy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 2026 · Edge-Efficient WiFi Indoor Localization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19</a:t>
            </a:r>
            <a:endParaRPr lang="en-US" sz="8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319272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P90 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P99 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DLoc (published)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DLoc teacher (our reproduction)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2.27M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2.27M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23.244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MobileNetV2-UNet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2.41M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 (Cosine)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MobileNetV2-UNet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2.41M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 (Step)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MobileNetV2-UNet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2.41M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Distilled (Cosine)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Mamba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5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057400" cy="237744"/>
          </a:xfrm>
          <a:prstGeom prst="roundRect">
            <a:avLst>
              <a:gd name="adj" fmla="val 50000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EXPERIMENT 1 / 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medians on a 0.1 m grid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 2026 · Edge-Efficient WiFi Indoor Localization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20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prediction is the </a:t>
            </a:r>
            <a:r>
              <a:rPr lang="en-US" sz="14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arg-max pixel</a:t>
            </a:r>
            <a:r>
              <a:rPr lang="en-US" sz="14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 0.1 m grid, so every error is </a:t>
            </a:r>
            <a:r>
              <a:rPr lang="en-US" sz="14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 · √n m</a:t>
            </a:r>
            <a:r>
              <a:rPr lang="en-US" sz="14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an integer n. Near our results, a median can only be: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2331720"/>
            <a:ext cx="7498080" cy="0"/>
          </a:xfrm>
          <a:prstGeom prst="line">
            <a:avLst/>
          </a:prstGeom>
          <a:noFill/>
          <a:ln w="19050">
            <a:solidFill>
              <a:srgbClr val="D5DE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26741" y="2267712"/>
            <a:ext cx="128016" cy="128016"/>
          </a:xfrm>
          <a:prstGeom prst="ellipse">
            <a:avLst/>
          </a:prstGeom>
          <a:solidFill>
            <a:srgbClr val="B9C4C9"/>
          </a:solidFill>
          <a:ln w="12700">
            <a:solidFill>
              <a:srgbClr val="B9C4C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0709" y="24963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0.600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469998" y="2267712"/>
            <a:ext cx="128016" cy="128016"/>
          </a:xfrm>
          <a:prstGeom prst="ellipse">
            <a:avLst/>
          </a:prstGeom>
          <a:solidFill>
            <a:srgbClr val="B9C4C9"/>
          </a:solidFill>
          <a:ln w="12700">
            <a:solidFill>
              <a:srgbClr val="B9C4C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213966" y="24963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0.608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764985" y="2267712"/>
            <a:ext cx="128016" cy="128016"/>
          </a:xfrm>
          <a:prstGeom prst="ellipse">
            <a:avLst/>
          </a:prstGeom>
          <a:solidFill>
            <a:srgbClr val="B9C4C9"/>
          </a:solidFill>
          <a:ln w="12700">
            <a:solidFill>
              <a:srgbClr val="B9C4C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508953" y="24963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0.632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130918" y="2212848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929750" y="24963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0.640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819719" y="2267712"/>
            <a:ext cx="128016" cy="128016"/>
          </a:xfrm>
          <a:prstGeom prst="ellipse">
            <a:avLst/>
          </a:prstGeom>
          <a:solidFill>
            <a:srgbClr val="B9C4C9"/>
          </a:solidFill>
          <a:ln w="12700">
            <a:solidFill>
              <a:srgbClr val="B9C4C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63687" y="24963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0.671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382512" y="2267712"/>
            <a:ext cx="128016" cy="128016"/>
          </a:xfrm>
          <a:prstGeom prst="ellipse">
            <a:avLst/>
          </a:prstGeom>
          <a:solidFill>
            <a:srgbClr val="B9C4C9"/>
          </a:solidFill>
          <a:ln w="12700">
            <a:solidFill>
              <a:srgbClr val="B9C4C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126480" y="24963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0.700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708271" y="2212848"/>
            <a:ext cx="237744" cy="237744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507103" y="24963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0.707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513129" y="2267712"/>
            <a:ext cx="128016" cy="128016"/>
          </a:xfrm>
          <a:prstGeom prst="ellipse">
            <a:avLst/>
          </a:prstGeom>
          <a:solidFill>
            <a:srgbClr val="B9C4C9"/>
          </a:solidFill>
          <a:ln w="12700">
            <a:solidFill>
              <a:srgbClr val="B9C4C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257097" y="24963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0.721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882717" y="2267712"/>
            <a:ext cx="128016" cy="128016"/>
          </a:xfrm>
          <a:prstGeom prst="ellipse">
            <a:avLst/>
          </a:prstGeom>
          <a:solidFill>
            <a:srgbClr val="B9C4C9"/>
          </a:solidFill>
          <a:ln w="12700">
            <a:solidFill>
              <a:srgbClr val="B9C4C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626685" y="24963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0.728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2609044" y="1874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0.640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5455180" y="18745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DLoc teacher · MobileNetV2 0.707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3063240"/>
            <a:ext cx="8229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medians = same grid value, not identical models</a:t>
            </a: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MobileNetV2 vs teacher, cosine vs step, standalone vs distilled.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vs our teacher: </a:t>
            </a:r>
            <a:r>
              <a:rPr lang="en-US" sz="13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grid steps (0.067 m)</a:t>
            </a: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That is why we also report P90 / P99.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error is continuous: </a:t>
            </a: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normal-condition mean 0.851 m (U-Net) vs 0.900 m (MobileNetV2). No mean is available for the DLoc teacher.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057400" cy="237744"/>
          </a:xfrm>
          <a:prstGeom prst="roundRect">
            <a:avLst>
              <a:gd name="adj" fmla="val 50000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EXPERIMENT 1 / 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U-Net predicts — in distribution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 2026 · Edge-Efficient WiFi Indoor Localization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21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80060" y="12344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· err = 0.10 m</a:t>
            </a:r>
            <a:endParaRPr lang="en-US" sz="1300" dirty="0"/>
          </a:p>
        </p:txBody>
      </p:sp>
      <p:pic>
        <p:nvPicPr>
          <p:cNvPr id="9" name="Image 0" descr="Predicted heatmap, Best · err = 0.10 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" y="1527048"/>
            <a:ext cx="2514600" cy="229402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314700" y="12344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· err = 0.64 m</a:t>
            </a:r>
            <a:endParaRPr lang="en-US" sz="1300" dirty="0"/>
          </a:p>
        </p:txBody>
      </p:sp>
      <p:pic>
        <p:nvPicPr>
          <p:cNvPr id="11" name="Image 1" descr="Predicted heatmap, Median · err = 0.64 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1527048"/>
            <a:ext cx="2514600" cy="2294021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149340" y="12344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· err = 2.65 m</a:t>
            </a:r>
            <a:endParaRPr lang="en-US" sz="1300" dirty="0"/>
          </a:p>
        </p:txBody>
      </p:sp>
      <p:pic>
        <p:nvPicPr>
          <p:cNvPr id="13" name="Image 2" descr="Predicted heatmap, Failure · err = 2.65 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9340" y="1527048"/>
            <a:ext cx="2514600" cy="2294021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48640" y="3930797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truth   ✕ prediction. </a:t>
            </a:r>
            <a:r>
              <a:rPr lang="en-US" sz="12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tight peak in most samples; large errors come from a second bright region winning the arg-max.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057400" cy="237744"/>
          </a:xfrm>
          <a:prstGeom prst="roundRect">
            <a:avLst>
              <a:gd name="adj" fmla="val 50000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EXPERIMENT 1 / 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Learning-rate scheduler study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 2026 · Edge-Efficient WiFi Indoor Localization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22</a:t>
            </a:r>
            <a:endParaRPr lang="en-US" sz="8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1280160"/>
          <a:ext cx="45720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1371600"/>
          <a:ext cx="3520440" cy="1029208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(m)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P90 (m)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P99 (m)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 annealing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decay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166360" y="2834640"/>
            <a:ext cx="3520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land on the same </a:t>
            </a:r>
            <a:r>
              <a:rPr lang="en-US" sz="125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0.640 m</a:t>
            </a:r>
            <a:r>
              <a:rPr lang="en-US" sz="12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grid value — not proof of the same model.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only trims the tail: P90 </a:t>
            </a:r>
            <a:r>
              <a:rPr lang="en-US" sz="125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1.523</a:t>
            </a:r>
            <a:r>
              <a:rPr lang="en-US" sz="12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1.552 m, P99 </a:t>
            </a:r>
            <a:r>
              <a:rPr lang="en-US" sz="125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2.750</a:t>
            </a:r>
            <a:r>
              <a:rPr lang="en-US" sz="12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2.918 m.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dominates</a:t>
            </a:r>
            <a:r>
              <a:rPr lang="en-US" sz="12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the scheduler.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057400" cy="237744"/>
          </a:xfrm>
          <a:prstGeom prst="roundRect">
            <a:avLst>
              <a:gd name="adj" fmla="val 50000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EXPERIMENT 1 / 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heatmaps — full strips, in distribution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 2026 · Edge-Efficient WiFi Indoor Localization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23</a:t>
            </a:r>
            <a:endParaRPr lang="en-US" sz="850" dirty="0"/>
          </a:p>
        </p:txBody>
      </p:sp>
      <p:pic>
        <p:nvPicPr>
          <p:cNvPr id="8" name="Image 0" descr="MobileNetV2-UNet (white circle = truth, red cross = prediction)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34440"/>
            <a:ext cx="7315200" cy="147091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14400" y="2741927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MobileNetV2-UNet (white circle = truth, red cross = prediction).</a:t>
            </a:r>
            <a:endParaRPr lang="en-US" sz="1000" dirty="0"/>
          </a:p>
        </p:txBody>
      </p:sp>
      <p:pic>
        <p:nvPicPr>
          <p:cNvPr id="10" name="Image 1" descr="MobileNetV2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017520"/>
            <a:ext cx="7315200" cy="1470911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14400" y="4525007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057400" cy="237744"/>
          </a:xfrm>
          <a:prstGeom prst="roundRect">
            <a:avLst>
              <a:gd name="adj" fmla="val 50000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EXPERIMENT 2 / 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under signal degradation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 2026 · Edge-Efficient WiFi Indoor Localization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24</a:t>
            </a:r>
            <a:endParaRPr lang="en-US" sz="8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1280160"/>
          <a:ext cx="42976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365760" y="4041648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3.4×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1234440" y="404164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rescues MobileNetV2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2514600" y="4041648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5.5×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3383280" y="404164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alone vs. plain MobileNetV2</a:t>
            </a:r>
            <a:endParaRPr lang="en-US" sz="9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325880"/>
          <a:ext cx="3794760" cy="225145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P90 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5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16.368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5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MobileNetV2-UNet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MobileNetV2-UNet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4892040" y="393192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and distillation are two different mechanisms — </a:t>
            </a:r>
            <a:r>
              <a:rPr lang="en-US" sz="12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complementary, not additive</a:t>
            </a:r>
            <a:r>
              <a:rPr lang="en-US" sz="12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057400" cy="237744"/>
          </a:xfrm>
          <a:prstGeom prst="roundRect">
            <a:avLst>
              <a:gd name="adj" fmla="val 50000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EXPERIMENT 2 / 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— MobileNetV2-UNet (2.41M)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 2026 · Edge-Efficient WiFi Indoor Localization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25</a:t>
            </a:r>
            <a:endParaRPr lang="en-US" sz="8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263347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29184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 (Cosine)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Distilled (Cosine)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C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C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C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C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C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C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C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C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3.587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σ=0.1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3.878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3.469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18.261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4.678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σ=0.2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5.741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18.137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17.948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2-AP dropout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13.396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Atten. 0.5×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1.077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15.963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Blur k=5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win noise </a:t>
            </a: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(3.00 m standalone; distillation adds nothing). </a:t>
            </a:r>
            <a:r>
              <a:rPr lang="en-US" sz="13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wins AP dropout </a:t>
            </a: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(median 3.32 → 2.73 m, P99 22.1 → 13.4 m).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057400" cy="237744"/>
          </a:xfrm>
          <a:prstGeom prst="roundRect">
            <a:avLst>
              <a:gd name="adj" fmla="val 50000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EXPERIMENT 2 / 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— MobileNetV2 (2.27M)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 2026 · Edge-Efficient WiFi Indoor Localization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26</a:t>
            </a:r>
            <a:endParaRPr lang="en-US" sz="8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9260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576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C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C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C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C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C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C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C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C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σ=0.1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16.368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25.196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21.122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σ=0.2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16.307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20.748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25.188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20.508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2-AP dropout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22.997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Atten. 0.5×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22.612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Blur k=5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057400" cy="237744"/>
          </a:xfrm>
          <a:prstGeom prst="roundRect">
            <a:avLst>
              <a:gd name="adj" fmla="val 50000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EXPERIMENT 3 / 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 generalization (LOSO)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 2026 · Edge-Efficient WiFi Indoor Localization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27</a:t>
            </a:r>
            <a:endParaRPr lang="en-US" sz="850" dirty="0"/>
          </a:p>
        </p:txBody>
      </p:sp>
      <p:pic>
        <p:nvPicPr>
          <p:cNvPr id="8" name="Image 0" descr="Leave-one-session-out, 3 seeds (mean ± std), vs published DLoc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25880"/>
            <a:ext cx="4206240" cy="269362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65760" y="4056085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Leave-one-session-out, 3 seeds (mean ± std), vs published DLoc.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71600"/>
          <a:ext cx="3931920" cy="22860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Held-out session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(ours)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(paper)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P90 (ours)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P90 (paper)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Aug16_1 (furniture)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0.852 ± 0.044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1.839 ± 0.067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Aug16_3 (diff. furn.)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0.822 ± 0.040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2.793 ± 0.140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Aug16_4_ref (reflector)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1.116 ± 0.016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2.489 ± 0.030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057400" cy="237744"/>
          </a:xfrm>
          <a:prstGeom prst="roundRect">
            <a:avLst>
              <a:gd name="adj" fmla="val 50000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EXPERIMENT 3 / 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reflector hurts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 2026 · Edge-Efficient WiFi Indoor Localization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28</a:t>
            </a:r>
            <a:endParaRPr lang="en-US" sz="850" dirty="0"/>
          </a:p>
        </p:txBody>
      </p:sp>
      <p:pic>
        <p:nvPicPr>
          <p:cNvPr id="8" name="Image 0" descr="Cross-session error CDF per held-out fol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80160"/>
            <a:ext cx="2743200" cy="182201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337560" y="1325880"/>
            <a:ext cx="5349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furniture folds track closely; the </a:t>
            </a:r>
            <a:r>
              <a:rPr lang="en-US" sz="1250" b="1" dirty="0">
                <a:solidFill>
                  <a:srgbClr val="C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reflector</a:t>
            </a:r>
            <a:r>
              <a:rPr lang="en-US" sz="12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fold is shifted to larger errors.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 show extra specular "phantom" peaks that can win the arg-max.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</a:t>
            </a:r>
            <a:r>
              <a:rPr lang="en-US" sz="12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DLoc's consistency decoder suppresses these; our single-decoder U-Net cannot. Not yet tested.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3429000" y="297180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 = 0.22 m</a:t>
            </a:r>
            <a:endParaRPr lang="en-US" sz="1050" dirty="0"/>
          </a:p>
        </p:txBody>
      </p:sp>
      <p:pic>
        <p:nvPicPr>
          <p:cNvPr id="11" name="Image 1" descr="Reflector-fold heatmap err = 0.22 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3182112"/>
            <a:ext cx="1691640" cy="1543251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94960" y="297180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 = 1.13 m</a:t>
            </a:r>
            <a:endParaRPr lang="en-US" sz="1050" dirty="0"/>
          </a:p>
        </p:txBody>
      </p:sp>
      <p:pic>
        <p:nvPicPr>
          <p:cNvPr id="13" name="Image 2" descr="Reflector-fold heatmap err = 1.13 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3182112"/>
            <a:ext cx="1691640" cy="1543251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360920" y="297180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 = 4.98 m</a:t>
            </a:r>
            <a:endParaRPr lang="en-US" sz="1050" dirty="0"/>
          </a:p>
        </p:txBody>
      </p:sp>
      <p:pic>
        <p:nvPicPr>
          <p:cNvPr id="15" name="Image 3" descr="Reflector-fold heatmap err = 4.98 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920" y="3182112"/>
            <a:ext cx="1691640" cy="1543251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365760" y="3291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truth   ✕ prediction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057400" cy="237744"/>
          </a:xfrm>
          <a:prstGeom prst="roundRect">
            <a:avLst>
              <a:gd name="adj" fmla="val 50000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EXPERIMENT 3 / 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Per-seed leave-one-session-out results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 2026 · Edge-Efficient WiFi Indoor Localization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29</a:t>
            </a:r>
            <a:endParaRPr lang="en-US" sz="8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280160"/>
          <a:ext cx="6400800" cy="27432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(m)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P90 (m)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P99 (m)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Aug16_1 (furniture)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1.769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Aug16_3 (diff. furn.)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Aug16_4_ref (reflector)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057400" cy="237744"/>
          </a:xfrm>
          <a:prstGeom prst="roundRect">
            <a:avLst>
              <a:gd name="adj" fmla="val 50000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EXPERIMENT 3 / 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U-Net predicts — cross-session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 2026 · Edge-Efficient WiFi Indoor Localization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30</a:t>
            </a:r>
            <a:endParaRPr lang="en-US" sz="850" dirty="0"/>
          </a:p>
        </p:txBody>
      </p:sp>
      <p:pic>
        <p:nvPicPr>
          <p:cNvPr id="8" name="Image 0" descr="Held-out Aug16_1 (furniture rearranged)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34440"/>
            <a:ext cx="7315200" cy="147091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14400" y="2741927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Aug16_1 (furniture rearranged).</a:t>
            </a:r>
            <a:endParaRPr lang="en-US" sz="1000" dirty="0"/>
          </a:p>
        </p:txBody>
      </p:sp>
      <p:pic>
        <p:nvPicPr>
          <p:cNvPr id="10" name="Image 1" descr="Held-out Aug16_3 (different furniture)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017520"/>
            <a:ext cx="7315200" cy="1470911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14400" y="4525007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Aug16_3 (different furniture).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057400" cy="237744"/>
          </a:xfrm>
          <a:prstGeom prst="roundRect">
            <a:avLst>
              <a:gd name="adj" fmla="val 50000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EXPERIMENT 4 / 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generalization (July-only training)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 2026 · Edge-Efficient WiFi Indoor Localization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31</a:t>
            </a:r>
            <a:endParaRPr lang="en-US" sz="8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30428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Sess.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Sess.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Sess. 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Sess. 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Distilled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1.442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TinyCNN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5.964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UNet (Cosine)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1.334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UNet (Cosine)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Distilled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057400" cy="237744"/>
          </a:xfrm>
          <a:prstGeom prst="roundRect">
            <a:avLst>
              <a:gd name="adj" fmla="val 50000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EXPERIMENT 5 / 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 seeds move the median?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 2026 · Edge-Efficient WiFi Indoor Localization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32</a:t>
            </a:r>
            <a:endParaRPr lang="en-US" sz="8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1280160"/>
          <a:ext cx="42976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25880"/>
          <a:ext cx="3840480" cy="13716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DLoc seed (120 ep.)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(m)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P90 (m)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P99 (m)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22.672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± Std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0.875 ± 0.036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2.280 ± 0.128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13.027 ± 6.832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4846320" y="2880360"/>
            <a:ext cx="3840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teacher: </a:t>
            </a: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120-epoch retrains (LR never decays to zero) — worse than the 50-epoch teacher.</a:t>
            </a:r>
            <a:endParaRPr lang="en-US" sz="11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spread σ = 0.036 m. U-Net vs teacher: </a:t>
            </a:r>
            <a:r>
              <a:rPr lang="en-US" sz="115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1.9σ</a:t>
            </a: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vs these runs: 6.5σ.</a:t>
            </a:r>
            <a:endParaRPr lang="en-US" sz="11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in-distribution is a </a:t>
            </a:r>
            <a:r>
              <a:rPr lang="en-US" sz="115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run</a:t>
            </a: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three U-Net seeds would settle it.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057400" cy="237744"/>
          </a:xfrm>
          <a:prstGeom prst="roundRect">
            <a:avLst>
              <a:gd name="adj" fmla="val 50000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EXPERIMENT 6 / 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efficiency (batch 1)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 2026 · Edge-Efficient WiFi Indoor Localization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33</a:t>
            </a:r>
            <a:endParaRPr lang="en-US" sz="8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1280160"/>
          <a:ext cx="420624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5"/>
          <p:cNvSpPr/>
          <p:nvPr/>
        </p:nvSpPr>
        <p:spPr>
          <a:xfrm>
            <a:off x="365760" y="3886200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65760" y="390448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56×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365760" y="426110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FLOPs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1783080" y="3886200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783080" y="390448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1783080" y="426110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CPU latency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200400" y="3886200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200400" y="390448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6.8×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3200400" y="426110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params</a:t>
            </a:r>
            <a:endParaRPr lang="en-US" sz="9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371600"/>
          <a:ext cx="3886200" cy="14630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(ms)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(ms)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DLoc 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81.06G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2.27M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TinyCNN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MobileNetV2-UNet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2.41M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1.45G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Shape 14"/>
          <p:cNvSpPr/>
          <p:nvPr/>
        </p:nvSpPr>
        <p:spPr>
          <a:xfrm>
            <a:off x="4800600" y="310896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BE6DF"/>
          </a:solidFill>
          <a:ln w="12700">
            <a:solidFill>
              <a:srgbClr val="FBE6D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4983480" y="3108960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4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  </a:t>
            </a: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inference only, on our desktop benchmark machine (Intel Core i7 11th-gen CPU, RTX 3060 GPU). The CSI → AoA–ToF heatmap preprocessing is not included and must be measured on-device.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057400" cy="237744"/>
          </a:xfrm>
          <a:prstGeom prst="roundRect">
            <a:avLst>
              <a:gd name="adj" fmla="val 50000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EXPERIMENT 6 / 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 2026 · Edge-Efficient WiFi Indoor Localization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34</a:t>
            </a:r>
            <a:endParaRPr lang="en-US" sz="850" dirty="0"/>
          </a:p>
        </p:txBody>
      </p:sp>
      <p:pic>
        <p:nvPicPr>
          <p:cNvPr id="8" name="Image 0" descr="Parameter counts of each model (millions, log scale)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4754880" cy="318251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4499255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counts of each model (millions, log scale).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5760720" y="13258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16.5M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6858000" y="1325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DLoc baseline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760720" y="1965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2.41M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85800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MobileNetV2-UNet · 6.8×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760720" y="26060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2.27M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0" y="2606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· 7.2×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760720" y="3246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0.65M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6858000" y="3246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Mamba · 25×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5760720" y="3886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47K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6858000" y="3886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TinyCNN · 351×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 2026 · Edge-Efficient WiFi Indoor Localization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 ·  35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57200" y="1453896"/>
            <a:ext cx="365760" cy="3657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453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1417320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DLoc is over-parameterized — </a:t>
            </a:r>
            <a:r>
              <a:rPr lang="en-US" sz="14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reaches the teacher's median at 7.2× fewer params.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093976"/>
            <a:ext cx="365760" cy="3657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2093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2057400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beats parameters — </a:t>
            </a:r>
            <a:r>
              <a:rPr lang="en-US" sz="14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skips give 0.640 m — level with published DLoc.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2734056"/>
            <a:ext cx="365760" cy="3657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2734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" y="2697480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helps under AP dropout — </a:t>
            </a:r>
            <a:r>
              <a:rPr lang="en-US" sz="14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rescues models without skips — not a general robustness boost.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3374136"/>
            <a:ext cx="365760" cy="3657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" y="3374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60120" y="3337560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robustness mechanisms — </a:t>
            </a:r>
            <a:r>
              <a:rPr lang="en-US" sz="14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(noise) and distillation (AP dropout).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57200" y="4014216"/>
            <a:ext cx="365760" cy="3657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60120" y="3977640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cross-session — </a:t>
            </a:r>
            <a:r>
              <a:rPr lang="en-US" sz="14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0.14 m per fold (0.07 m on average) at 6.8× fewer params, 56× less compute.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28700" cy="237744"/>
          </a:xfrm>
          <a:prstGeom prst="roundRect">
            <a:avLst>
              <a:gd name="adj" fmla="val 50000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0287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 2026 · Edge-Efficient WiFi Indoor Localization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 ·  36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57200" y="132588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435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decoder for the U-Net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Training-only, zero inference cost — tests the reflector hypothesis.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132588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DFF1EE"/>
          </a:solidFill>
          <a:ln w="12700">
            <a:solidFill>
              <a:srgbClr val="DFF1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435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Sub-pixel peak refinement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Soft-argmax or parabolic fit — medians no longer tied to the 0.1 m grid.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42316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2532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E-JUST edge devices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2880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end-to-end latency, including CSI → heatmap preprocessing.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63440" y="242316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46320" y="2532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 new CSI dataset at E-JUST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846320" y="2880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transfer to a different building.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352044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" y="3630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Train-time corruption augmentation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" y="3977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only corrupt at test time today.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663440" y="352044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846320" y="3630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search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846320" y="3977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on the skips; 2-D multi-direction Mamba scans (VMamba).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3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31520" y="1188720"/>
            <a:ext cx="128016" cy="12801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87552" y="1188720"/>
            <a:ext cx="128016" cy="12801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43584" y="1188720"/>
            <a:ext cx="128016" cy="12801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99616" y="1188720"/>
            <a:ext cx="128016" cy="128016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7FD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783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7432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or beats DLoc in distribution, within 0.14 m cross-session — 6.8× smaller, 56× cheaper.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5661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Abdulrahman M. A. Ebrahim  ·  Ahmed E. A. Haggag  ·  Fadwa Y. K. Mahmoud  ·  Ehab H. Elshazly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E-JUST, Alexandria, Egypt  ·  NILES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6591</Words>
  <Application>Microsoft Office PowerPoint</Application>
  <PresentationFormat>On-screen Show (16:9)</PresentationFormat>
  <Paragraphs>986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Edge-Efficient WiFi Indoor Localization via Lightweight Deep Learning and Knowledge Distillation</dc:title>
  <dc:subject>PptxGenJS Presentation</dc:subject>
  <dc:creator>Abdulrahman M. Ebrahim, Ahmed E. Haggag, Fadwa Y. Mahmoud</dc:creator>
  <cp:lastModifiedBy>Abdulrahman Mahmoud</cp:lastModifiedBy>
  <cp:revision>2</cp:revision>
  <dcterms:created xsi:type="dcterms:W3CDTF">2026-10-01T18:18:33Z</dcterms:created>
  <dcterms:modified xsi:type="dcterms:W3CDTF">2026-10-01T20:54:05Z</dcterms:modified>
</cp:coreProperties>
</file>